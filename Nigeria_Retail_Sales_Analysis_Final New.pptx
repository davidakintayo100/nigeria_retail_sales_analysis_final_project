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9" r:id="rId3"/>
    <p:sldId id="257" r:id="rId4"/>
    <p:sldId id="258" r:id="rId5"/>
    <p:sldId id="259" r:id="rId6"/>
    <p:sldId id="260" r:id="rId7"/>
    <p:sldId id="261" r:id="rId8"/>
    <p:sldId id="262" r:id="rId9"/>
    <p:sldId id="263" r:id="rId10"/>
    <p:sldId id="270"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6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Revenue (₦B)</c:v>
                </c:pt>
              </c:strCache>
            </c:strRef>
          </c:tx>
          <c:spPr>
            <a:solidFill>
              <a:srgbClr val="1B998B"/>
            </a:solidFill>
            <a:effectLst/>
          </c:spPr>
          <c:invertIfNegative val="0"/>
          <c:dPt>
            <c:idx val="0"/>
            <c:invertIfNegative val="0"/>
            <c:bubble3D val="0"/>
            <c:extLst>
              <c:ext xmlns:c16="http://schemas.microsoft.com/office/drawing/2014/chart" uri="{C3380CC4-5D6E-409C-BE32-E72D297353CC}">
                <c16:uniqueId val="{00000001-561E-4DA3-AD52-69176A70757A}"/>
              </c:ext>
            </c:extLst>
          </c:dPt>
          <c:dPt>
            <c:idx val="1"/>
            <c:invertIfNegative val="0"/>
            <c:bubble3D val="0"/>
            <c:spPr>
              <a:solidFill>
                <a:srgbClr val="2EC4B6"/>
              </a:solidFill>
              <a:effectLst/>
            </c:spPr>
            <c:extLst>
              <c:ext xmlns:c16="http://schemas.microsoft.com/office/drawing/2014/chart" uri="{C3380CC4-5D6E-409C-BE32-E72D297353CC}">
                <c16:uniqueId val="{00000003-561E-4DA3-AD52-69176A70757A}"/>
              </c:ext>
            </c:extLst>
          </c:dPt>
          <c:dPt>
            <c:idx val="2"/>
            <c:invertIfNegative val="0"/>
            <c:bubble3D val="0"/>
            <c:extLst>
              <c:ext xmlns:c16="http://schemas.microsoft.com/office/drawing/2014/chart" uri="{C3380CC4-5D6E-409C-BE32-E72D297353CC}">
                <c16:uniqueId val="{00000005-561E-4DA3-AD52-69176A70757A}"/>
              </c:ext>
            </c:extLst>
          </c:dPt>
          <c:dPt>
            <c:idx val="3"/>
            <c:invertIfNegative val="0"/>
            <c:bubble3D val="0"/>
            <c:spPr>
              <a:solidFill>
                <a:srgbClr val="2EC4B6"/>
              </a:solidFill>
              <a:effectLst/>
            </c:spPr>
            <c:extLst>
              <c:ext xmlns:c16="http://schemas.microsoft.com/office/drawing/2014/chart" uri="{C3380CC4-5D6E-409C-BE32-E72D297353CC}">
                <c16:uniqueId val="{00000007-561E-4DA3-AD52-69176A70757A}"/>
              </c:ext>
            </c:extLst>
          </c:dPt>
          <c:dPt>
            <c:idx val="4"/>
            <c:invertIfNegative val="0"/>
            <c:bubble3D val="0"/>
            <c:extLst>
              <c:ext xmlns:c16="http://schemas.microsoft.com/office/drawing/2014/chart" uri="{C3380CC4-5D6E-409C-BE32-E72D297353CC}">
                <c16:uniqueId val="{00000009-561E-4DA3-AD52-69176A70757A}"/>
              </c:ext>
            </c:extLst>
          </c:dPt>
          <c:dPt>
            <c:idx val="5"/>
            <c:invertIfNegative val="0"/>
            <c:bubble3D val="0"/>
            <c:spPr>
              <a:solidFill>
                <a:srgbClr val="2EC4B6"/>
              </a:solidFill>
              <a:effectLst/>
            </c:spPr>
            <c:extLst>
              <c:ext xmlns:c16="http://schemas.microsoft.com/office/drawing/2014/chart" uri="{C3380CC4-5D6E-409C-BE32-E72D297353CC}">
                <c16:uniqueId val="{0000000B-561E-4DA3-AD52-69176A70757A}"/>
              </c:ext>
            </c:extLst>
          </c:dPt>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North East</c:v>
                </c:pt>
                <c:pt idx="1">
                  <c:v>South West</c:v>
                </c:pt>
                <c:pt idx="2">
                  <c:v>South South</c:v>
                </c:pt>
                <c:pt idx="3">
                  <c:v>South East</c:v>
                </c:pt>
                <c:pt idx="4">
                  <c:v>North West</c:v>
                </c:pt>
                <c:pt idx="5">
                  <c:v>North Central</c:v>
                </c:pt>
              </c:strCache>
            </c:strRef>
          </c:cat>
          <c:val>
            <c:numRef>
              <c:f>Sheet1!$B$2:$B$7</c:f>
              <c:numCache>
                <c:formatCode>General</c:formatCode>
                <c:ptCount val="6"/>
                <c:pt idx="0">
                  <c:v>21.69</c:v>
                </c:pt>
                <c:pt idx="1">
                  <c:v>18.52</c:v>
                </c:pt>
                <c:pt idx="2">
                  <c:v>14.17</c:v>
                </c:pt>
                <c:pt idx="3">
                  <c:v>12.25</c:v>
                </c:pt>
                <c:pt idx="4">
                  <c:v>10.98</c:v>
                </c:pt>
                <c:pt idx="5">
                  <c:v>7.53</c:v>
                </c:pt>
              </c:numCache>
            </c:numRef>
          </c:val>
          <c:extLst>
            <c:ext xmlns:c16="http://schemas.microsoft.com/office/drawing/2014/chart" uri="{C3380CC4-5D6E-409C-BE32-E72D297353CC}">
              <c16:uniqueId val="{0000000C-561E-4DA3-AD52-69176A70757A}"/>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t"/>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1B998B"/>
              </a:solidFill>
              <a:effectLst/>
            </c:spPr>
            <c:extLst>
              <c:ext xmlns:c16="http://schemas.microsoft.com/office/drawing/2014/chart" uri="{C3380CC4-5D6E-409C-BE32-E72D297353CC}">
                <c16:uniqueId val="{00000001-155E-4745-9BF9-7649FBD73650}"/>
              </c:ext>
            </c:extLst>
          </c:dPt>
          <c:dPt>
            <c:idx val="1"/>
            <c:bubble3D val="0"/>
            <c:spPr>
              <a:solidFill>
                <a:srgbClr val="0D1B2A"/>
              </a:solidFill>
              <a:effectLst/>
            </c:spPr>
            <c:extLst>
              <c:ext xmlns:c16="http://schemas.microsoft.com/office/drawing/2014/chart" uri="{C3380CC4-5D6E-409C-BE32-E72D297353CC}">
                <c16:uniqueId val="{00000003-155E-4745-9BF9-7649FBD73650}"/>
              </c:ext>
            </c:extLst>
          </c:dPt>
          <c:dPt>
            <c:idx val="2"/>
            <c:bubble3D val="0"/>
            <c:spPr>
              <a:solidFill>
                <a:srgbClr val="FF6B35"/>
              </a:solidFill>
              <a:effectLst/>
            </c:spPr>
            <c:extLst>
              <c:ext xmlns:c16="http://schemas.microsoft.com/office/drawing/2014/chart" uri="{C3380CC4-5D6E-409C-BE32-E72D297353CC}">
                <c16:uniqueId val="{00000005-155E-4745-9BF9-7649FBD73650}"/>
              </c:ext>
            </c:extLst>
          </c:dPt>
          <c:dPt>
            <c:idx val="3"/>
            <c:bubble3D val="0"/>
            <c:spPr>
              <a:solidFill>
                <a:srgbClr val="2EC4B6"/>
              </a:solidFill>
              <a:effectLst/>
            </c:spPr>
            <c:extLst>
              <c:ext xmlns:c16="http://schemas.microsoft.com/office/drawing/2014/chart" uri="{C3380CC4-5D6E-409C-BE32-E72D297353CC}">
                <c16:uniqueId val="{00000007-155E-4745-9BF9-7649FBD73650}"/>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55E-4745-9BF9-7649FBD73650}"/>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55E-4745-9BF9-7649FBD73650}"/>
                </c:ext>
              </c:extLst>
            </c:dLbl>
            <c:dLbl>
              <c:idx val="2"/>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55E-4745-9BF9-7649FBD73650}"/>
                </c:ext>
              </c:extLst>
            </c:dLbl>
            <c:dLbl>
              <c:idx val="3"/>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55E-4745-9BF9-7649FBD7365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Service Plan</c:v>
                </c:pt>
                <c:pt idx="1">
                  <c:v>Copier Sale</c:v>
                </c:pt>
                <c:pt idx="2">
                  <c:v>Parts</c:v>
                </c:pt>
                <c:pt idx="3">
                  <c:v>Printer Sale</c:v>
                </c:pt>
              </c:strCache>
            </c:strRef>
          </c:cat>
          <c:val>
            <c:numRef>
              <c:f>Sheet1!$B$2:$B$5</c:f>
              <c:numCache>
                <c:formatCode>General</c:formatCode>
                <c:ptCount val="4"/>
                <c:pt idx="0">
                  <c:v>60.31</c:v>
                </c:pt>
                <c:pt idx="1">
                  <c:v>8.9499999999999993</c:v>
                </c:pt>
                <c:pt idx="2">
                  <c:v>8.73</c:v>
                </c:pt>
                <c:pt idx="3">
                  <c:v>7.14</c:v>
                </c:pt>
              </c:numCache>
            </c:numRef>
          </c:val>
          <c:extLst>
            <c:ext xmlns:c16="http://schemas.microsoft.com/office/drawing/2014/chart" uri="{C3380CC4-5D6E-409C-BE32-E72D297353CC}">
              <c16:uniqueId val="{00000008-155E-4745-9BF9-7649FBD73650}"/>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(₦B)</c:v>
                </c:pt>
              </c:strCache>
            </c:strRef>
          </c:tx>
          <c:spPr>
            <a:solidFill>
              <a:srgbClr val="1B998B"/>
            </a:solidFill>
            <a:effectLst/>
          </c:spPr>
          <c:invertIfNegative val="0"/>
          <c:dPt>
            <c:idx val="0"/>
            <c:invertIfNegative val="0"/>
            <c:bubble3D val="0"/>
            <c:extLst>
              <c:ext xmlns:c16="http://schemas.microsoft.com/office/drawing/2014/chart" uri="{C3380CC4-5D6E-409C-BE32-E72D297353CC}">
                <c16:uniqueId val="{00000001-1546-4320-949A-6145D1570117}"/>
              </c:ext>
            </c:extLst>
          </c:dPt>
          <c:dPt>
            <c:idx val="1"/>
            <c:invertIfNegative val="0"/>
            <c:bubble3D val="0"/>
            <c:spPr>
              <a:solidFill>
                <a:srgbClr val="2EC4B6"/>
              </a:solidFill>
              <a:effectLst/>
            </c:spPr>
            <c:extLst>
              <c:ext xmlns:c16="http://schemas.microsoft.com/office/drawing/2014/chart" uri="{C3380CC4-5D6E-409C-BE32-E72D297353CC}">
                <c16:uniqueId val="{00000003-1546-4320-949A-6145D1570117}"/>
              </c:ext>
            </c:extLst>
          </c:dPt>
          <c:dPt>
            <c:idx val="2"/>
            <c:invertIfNegative val="0"/>
            <c:bubble3D val="0"/>
            <c:spPr>
              <a:solidFill>
                <a:srgbClr val="FF6B35"/>
              </a:solidFill>
              <a:effectLst/>
            </c:spPr>
            <c:extLst>
              <c:ext xmlns:c16="http://schemas.microsoft.com/office/drawing/2014/chart" uri="{C3380CC4-5D6E-409C-BE32-E72D297353CC}">
                <c16:uniqueId val="{00000005-1546-4320-949A-6145D1570117}"/>
              </c:ext>
            </c:extLst>
          </c:dPt>
          <c:dPt>
            <c:idx val="3"/>
            <c:invertIfNegative val="0"/>
            <c:bubble3D val="0"/>
            <c:spPr>
              <a:solidFill>
                <a:srgbClr val="718096"/>
              </a:solidFill>
              <a:effectLst/>
            </c:spPr>
            <c:extLst>
              <c:ext xmlns:c16="http://schemas.microsoft.com/office/drawing/2014/chart" uri="{C3380CC4-5D6E-409C-BE32-E72D297353CC}">
                <c16:uniqueId val="{00000007-1546-4320-949A-6145D1570117}"/>
              </c:ext>
            </c:extLst>
          </c:dPt>
          <c:dPt>
            <c:idx val="4"/>
            <c:invertIfNegative val="0"/>
            <c:bubble3D val="0"/>
            <c:spPr>
              <a:solidFill>
                <a:srgbClr val="CBD5E0"/>
              </a:solidFill>
              <a:effectLst/>
            </c:spPr>
            <c:extLst>
              <c:ext xmlns:c16="http://schemas.microsoft.com/office/drawing/2014/chart" uri="{C3380CC4-5D6E-409C-BE32-E72D297353CC}">
                <c16:uniqueId val="{00000009-1546-4320-949A-6145D1570117}"/>
              </c:ext>
            </c:extLst>
          </c:dPt>
          <c:dLbls>
            <c:numFmt formatCode="#,##0" sourceLinked="0"/>
            <c:spPr>
              <a:noFill/>
              <a:ln>
                <a:noFill/>
              </a:ln>
              <a:effectLst/>
            </c:spPr>
            <c:txPr>
              <a:bodyPr/>
              <a:lstStyle/>
              <a:p>
                <a:pPr>
                  <a:defRPr sz="1200" b="0"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WorkDay</c:v>
                </c:pt>
                <c:pt idx="1">
                  <c:v>Public Holiday</c:v>
                </c:pt>
                <c:pt idx="2">
                  <c:v>Season</c:v>
                </c:pt>
                <c:pt idx="3">
                  <c:v>Observance</c:v>
                </c:pt>
                <c:pt idx="4">
                  <c:v>Local holiday</c:v>
                </c:pt>
              </c:strCache>
            </c:strRef>
          </c:cat>
          <c:val>
            <c:numRef>
              <c:f>Sheet1!$B$2:$B$6</c:f>
              <c:numCache>
                <c:formatCode>General</c:formatCode>
                <c:ptCount val="5"/>
                <c:pt idx="0">
                  <c:v>80.739999999999995</c:v>
                </c:pt>
                <c:pt idx="1">
                  <c:v>2.34</c:v>
                </c:pt>
                <c:pt idx="2">
                  <c:v>1.05</c:v>
                </c:pt>
                <c:pt idx="3">
                  <c:v>0.82</c:v>
                </c:pt>
                <c:pt idx="4">
                  <c:v>0.19</c:v>
                </c:pt>
              </c:numCache>
            </c:numRef>
          </c:val>
          <c:extLst>
            <c:ext xmlns:c16="http://schemas.microsoft.com/office/drawing/2014/chart" uri="{C3380CC4-5D6E-409C-BE32-E72D297353CC}">
              <c16:uniqueId val="{0000000A-1546-4320-949A-6145D157011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1809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9.9879227053140091E-2"/>
          <c:y val="3.8805555555555558E-2"/>
          <c:w val="0.87648010089164385"/>
          <c:h val="0.84060333333333337"/>
        </c:manualLayout>
      </c:layout>
      <c:barChart>
        <c:barDir val="col"/>
        <c:grouping val="clustered"/>
        <c:varyColors val="0"/>
        <c:ser>
          <c:idx val="0"/>
          <c:order val="0"/>
          <c:spPr>
            <a:solidFill>
              <a:srgbClr val="1B998B"/>
            </a:solidFill>
            <a:effectLst/>
          </c:spPr>
          <c:invertIfNegative val="0"/>
          <c:cat>
            <c:strLit>
              <c:ptCount val="10"/>
              <c:pt idx="0">
                <c:v>Ekiti</c:v>
              </c:pt>
              <c:pt idx="1">
                <c:v>Abia</c:v>
              </c:pt>
              <c:pt idx="2">
                <c:v>Bayelsa</c:v>
              </c:pt>
              <c:pt idx="3">
                <c:v>Akwa Ibom</c:v>
              </c:pt>
              <c:pt idx="4">
                <c:v>Cross River</c:v>
              </c:pt>
              <c:pt idx="5">
                <c:v>Kogi</c:v>
              </c:pt>
              <c:pt idx="6">
                <c:v>Gombe</c:v>
              </c:pt>
              <c:pt idx="7">
                <c:v>Ondo</c:v>
              </c:pt>
              <c:pt idx="8">
                <c:v>Bauchi</c:v>
              </c:pt>
              <c:pt idx="9">
                <c:v>Taraba</c:v>
              </c:pt>
            </c:strLit>
          </c:cat>
          <c:val>
            <c:numLit>
              <c:formatCode>General</c:formatCode>
              <c:ptCount val="10"/>
              <c:pt idx="0">
                <c:v>6.47</c:v>
              </c:pt>
              <c:pt idx="1">
                <c:v>5.84</c:v>
              </c:pt>
              <c:pt idx="2">
                <c:v>4.93</c:v>
              </c:pt>
              <c:pt idx="3">
                <c:v>4.76</c:v>
              </c:pt>
              <c:pt idx="4">
                <c:v>4.4800000000000004</c:v>
              </c:pt>
              <c:pt idx="5">
                <c:v>4.4400000000000004</c:v>
              </c:pt>
              <c:pt idx="6">
                <c:v>4.3099999999999996</c:v>
              </c:pt>
              <c:pt idx="7">
                <c:v>4.3</c:v>
              </c:pt>
              <c:pt idx="8">
                <c:v>4.2</c:v>
              </c:pt>
              <c:pt idx="9">
                <c:v>4.1100000000000003</c:v>
              </c:pt>
            </c:numLit>
          </c:val>
          <c:extLst>
            <c:ext xmlns:c16="http://schemas.microsoft.com/office/drawing/2014/chart" uri="{C3380CC4-5D6E-409C-BE32-E72D297353CC}">
              <c16:uniqueId val="{00000000-2EED-43F7-8FC4-134C751710D7}"/>
            </c:ext>
          </c:extLst>
        </c:ser>
        <c:dLbls>
          <c:showLegendKey val="0"/>
          <c:showVal val="0"/>
          <c:showCatName val="0"/>
          <c:showSerName val="0"/>
          <c:showPercent val="0"/>
          <c:showBubbleSize val="0"/>
        </c:dLbls>
        <c:gapWidth val="150"/>
        <c:axId val="100"/>
        <c:axId val="101"/>
      </c:barChart>
      <c:catAx>
        <c:axId val="100"/>
        <c:scaling>
          <c:orientation val="minMax"/>
        </c:scaling>
        <c:delete val="0"/>
        <c:axPos val="b"/>
        <c:numFmt formatCode="General" sourceLinked="0"/>
        <c:majorTickMark val="cross"/>
        <c:minorTickMark val="cross"/>
        <c:tickLblPos val="nextTo"/>
        <c:spPr>
          <a:ln>
            <a:noFill/>
          </a:ln>
        </c:spPr>
        <c:txPr>
          <a:bodyPr/>
          <a:lstStyle/>
          <a:p>
            <a:pPr>
              <a:defRPr sz="900" b="0">
                <a:solidFill>
                  <a:srgbClr val="FFFFFF"/>
                </a:solidFill>
                <a:latin typeface="Calibri"/>
              </a:defRPr>
            </a:pPr>
            <a:endParaRPr lang="en-US"/>
          </a:p>
        </c:txPr>
        <c:crossAx val="101"/>
        <c:crosses val="autoZero"/>
        <c:auto val="1"/>
        <c:lblAlgn val="ctr"/>
        <c:lblOffset val="100"/>
        <c:noMultiLvlLbl val="1"/>
      </c:catAx>
      <c:valAx>
        <c:axId val="101"/>
        <c:scaling>
          <c:orientation val="minMax"/>
        </c:scaling>
        <c:delete val="0"/>
        <c:axPos val="l"/>
        <c:numFmt formatCode="0.00" sourceLinked="0"/>
        <c:majorTickMark val="cross"/>
        <c:minorTickMark val="cross"/>
        <c:tickLblPos val="nextTo"/>
        <c:spPr>
          <a:ln>
            <a:noFill/>
          </a:ln>
        </c:spPr>
        <c:txPr>
          <a:bodyPr/>
          <a:lstStyle/>
          <a:p>
            <a:pPr>
              <a:defRPr sz="900" b="0">
                <a:solidFill>
                  <a:srgbClr val="FFFFFF"/>
                </a:solidFill>
                <a:latin typeface="Calibri"/>
              </a:defRPr>
            </a:pPr>
            <a:endParaRPr lang="en-US"/>
          </a:p>
        </c:txPr>
        <c:crossAx val="100"/>
        <c:crosses val="autoZero"/>
        <c:crossBetween val="between"/>
      </c:valAx>
    </c:plotArea>
    <c:plotVisOnly val="1"/>
    <c:dispBlanksAs val="zero"/>
    <c:showDLblsOverMax val="1"/>
  </c:chart>
  <c:spPr>
    <a:solidFill>
      <a:srgbClr val="1A2B3C"/>
    </a:solid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spPr>
            <a:solidFill>
              <a:srgbClr val="2EC4B6"/>
            </a:solidFill>
            <a:effectLst/>
          </c:spPr>
          <c:invertIfNegative val="0"/>
          <c:cat>
            <c:strLit>
              <c:ptCount val="10"/>
              <c:pt idx="0">
                <c:v>Ankpa</c:v>
              </c:pt>
              <c:pt idx="1">
                <c:v>Ajaokuta</c:v>
              </c:pt>
              <c:pt idx="2">
                <c:v>Arochukwu</c:v>
              </c:pt>
              <c:pt idx="3">
                <c:v>Ekiti SW</c:v>
              </c:pt>
              <c:pt idx="4">
                <c:v>Nembe</c:v>
              </c:pt>
              <c:pt idx="5">
                <c:v>Ekiti East</c:v>
              </c:pt>
              <c:pt idx="6">
                <c:v>Ado-Odo/Ota</c:v>
              </c:pt>
              <c:pt idx="7">
                <c:v>Dukku</c:v>
              </c:pt>
              <c:pt idx="8">
                <c:v>Bauchi</c:v>
              </c:pt>
              <c:pt idx="9">
                <c:v>Akure North</c:v>
              </c:pt>
            </c:strLit>
          </c:cat>
          <c:val>
            <c:numLit>
              <c:formatCode>General</c:formatCode>
              <c:ptCount val="10"/>
              <c:pt idx="0">
                <c:v>1.97</c:v>
              </c:pt>
              <c:pt idx="1">
                <c:v>1.65</c:v>
              </c:pt>
              <c:pt idx="2">
                <c:v>1.64</c:v>
              </c:pt>
              <c:pt idx="3">
                <c:v>1.44</c:v>
              </c:pt>
              <c:pt idx="4">
                <c:v>1.25</c:v>
              </c:pt>
              <c:pt idx="5">
                <c:v>1.24</c:v>
              </c:pt>
              <c:pt idx="6">
                <c:v>1.19</c:v>
              </c:pt>
              <c:pt idx="7">
                <c:v>1.1299999999999999</c:v>
              </c:pt>
              <c:pt idx="8">
                <c:v>1.0900000000000001</c:v>
              </c:pt>
              <c:pt idx="9">
                <c:v>1.07</c:v>
              </c:pt>
            </c:numLit>
          </c:val>
          <c:extLst>
            <c:ext xmlns:c16="http://schemas.microsoft.com/office/drawing/2014/chart" uri="{C3380CC4-5D6E-409C-BE32-E72D297353CC}">
              <c16:uniqueId val="{00000000-FA77-4223-9117-752B6F9A61EE}"/>
            </c:ext>
          </c:extLst>
        </c:ser>
        <c:dLbls>
          <c:showLegendKey val="0"/>
          <c:showVal val="0"/>
          <c:showCatName val="0"/>
          <c:showSerName val="0"/>
          <c:showPercent val="0"/>
          <c:showBubbleSize val="0"/>
        </c:dLbls>
        <c:gapWidth val="150"/>
        <c:axId val="200"/>
        <c:axId val="201"/>
      </c:barChart>
      <c:catAx>
        <c:axId val="200"/>
        <c:scaling>
          <c:orientation val="minMax"/>
        </c:scaling>
        <c:delete val="0"/>
        <c:axPos val="b"/>
        <c:numFmt formatCode="General" sourceLinked="0"/>
        <c:majorTickMark val="cross"/>
        <c:minorTickMark val="cross"/>
        <c:tickLblPos val="nextTo"/>
        <c:spPr>
          <a:ln>
            <a:noFill/>
          </a:ln>
        </c:spPr>
        <c:txPr>
          <a:bodyPr/>
          <a:lstStyle/>
          <a:p>
            <a:pPr>
              <a:defRPr sz="900" b="0">
                <a:solidFill>
                  <a:srgbClr val="FFFFFF"/>
                </a:solidFill>
                <a:latin typeface="Calibri"/>
              </a:defRPr>
            </a:pPr>
            <a:endParaRPr lang="en-US"/>
          </a:p>
        </c:txPr>
        <c:crossAx val="201"/>
        <c:crosses val="autoZero"/>
        <c:auto val="1"/>
        <c:lblAlgn val="ctr"/>
        <c:lblOffset val="100"/>
        <c:noMultiLvlLbl val="1"/>
      </c:catAx>
      <c:valAx>
        <c:axId val="201"/>
        <c:scaling>
          <c:orientation val="minMax"/>
        </c:scaling>
        <c:delete val="0"/>
        <c:axPos val="l"/>
        <c:numFmt formatCode="0.00" sourceLinked="0"/>
        <c:majorTickMark val="cross"/>
        <c:minorTickMark val="cross"/>
        <c:tickLblPos val="nextTo"/>
        <c:spPr>
          <a:ln>
            <a:noFill/>
          </a:ln>
        </c:spPr>
        <c:txPr>
          <a:bodyPr/>
          <a:lstStyle/>
          <a:p>
            <a:pPr>
              <a:defRPr sz="900" b="0">
                <a:solidFill>
                  <a:srgbClr val="FFFFFF"/>
                </a:solidFill>
                <a:latin typeface="Calibri"/>
              </a:defRPr>
            </a:pPr>
            <a:endParaRPr lang="en-US"/>
          </a:p>
        </c:txPr>
        <c:crossAx val="200"/>
        <c:crosses val="autoZero"/>
        <c:crossBetween val="between"/>
      </c:valAx>
    </c:plotArea>
    <c:plotVisOnly val="1"/>
    <c:dispBlanksAs val="zero"/>
    <c:showDLblsOverMax val="1"/>
  </c:chart>
  <c:spPr>
    <a:solidFill>
      <a:srgbClr val="1A2B3C"/>
    </a:solid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Revenue (₦B)</c:v>
                </c:pt>
              </c:strCache>
            </c:strRef>
          </c:tx>
          <c:spPr>
            <a:solidFill>
              <a:schemeClr val="accent1"/>
            </a:solidFill>
            <a:ln w="9525" cap="flat">
              <a:solidFill>
                <a:srgbClr val="F9F9F9"/>
              </a:solidFill>
              <a:prstDash val="solid"/>
              <a:round/>
            </a:ln>
            <a:effectLst/>
          </c:spPr>
          <c:dPt>
            <c:idx val="0"/>
            <c:bubble3D val="0"/>
            <c:spPr>
              <a:solidFill>
                <a:srgbClr val="1B998B"/>
              </a:solidFill>
              <a:effectLst/>
            </c:spPr>
            <c:extLst>
              <c:ext xmlns:c16="http://schemas.microsoft.com/office/drawing/2014/chart" uri="{C3380CC4-5D6E-409C-BE32-E72D297353CC}">
                <c16:uniqueId val="{00000001-20A7-424B-A07B-C700D8B3EF0C}"/>
              </c:ext>
            </c:extLst>
          </c:dPt>
          <c:dPt>
            <c:idx val="1"/>
            <c:bubble3D val="0"/>
            <c:spPr>
              <a:solidFill>
                <a:srgbClr val="0D1B2A"/>
              </a:solidFill>
              <a:effectLst/>
            </c:spPr>
            <c:extLst>
              <c:ext xmlns:c16="http://schemas.microsoft.com/office/drawing/2014/chart" uri="{C3380CC4-5D6E-409C-BE32-E72D297353CC}">
                <c16:uniqueId val="{00000003-20A7-424B-A07B-C700D8B3EF0C}"/>
              </c:ext>
            </c:extLst>
          </c:dPt>
          <c:dPt>
            <c:idx val="2"/>
            <c:bubble3D val="0"/>
            <c:spPr>
              <a:solidFill>
                <a:srgbClr val="FF6B35"/>
              </a:solidFill>
              <a:effectLst/>
            </c:spPr>
            <c:extLst>
              <c:ext xmlns:c16="http://schemas.microsoft.com/office/drawing/2014/chart" uri="{C3380CC4-5D6E-409C-BE32-E72D297353CC}">
                <c16:uniqueId val="{00000005-20A7-424B-A07B-C700D8B3EF0C}"/>
              </c:ext>
            </c:extLst>
          </c:dPt>
          <c:dPt>
            <c:idx val="3"/>
            <c:bubble3D val="0"/>
            <c:spPr>
              <a:solidFill>
                <a:srgbClr val="2EC4B6"/>
              </a:solidFill>
              <a:effectLst/>
            </c:spPr>
            <c:extLst>
              <c:ext xmlns:c16="http://schemas.microsoft.com/office/drawing/2014/chart" uri="{C3380CC4-5D6E-409C-BE32-E72D297353CC}">
                <c16:uniqueId val="{00000007-20A7-424B-A07B-C700D8B3EF0C}"/>
              </c:ext>
            </c:extLst>
          </c:dPt>
          <c:dPt>
            <c:idx val="4"/>
            <c:bubble3D val="0"/>
            <c:spPr>
              <a:solidFill>
                <a:srgbClr val="8E44AD"/>
              </a:solidFill>
              <a:effectLst/>
            </c:spPr>
            <c:extLst>
              <c:ext xmlns:c16="http://schemas.microsoft.com/office/drawing/2014/chart" uri="{C3380CC4-5D6E-409C-BE32-E72D297353CC}">
                <c16:uniqueId val="{00000009-20A7-424B-A07B-C700D8B3EF0C}"/>
              </c:ext>
            </c:extLst>
          </c:dPt>
          <c:dPt>
            <c:idx val="5"/>
            <c:bubble3D val="0"/>
            <c:spPr>
              <a:solidFill>
                <a:srgbClr val="E67E22"/>
              </a:solidFill>
              <a:effectLst/>
            </c:spPr>
            <c:extLst>
              <c:ext xmlns:c16="http://schemas.microsoft.com/office/drawing/2014/chart" uri="{C3380CC4-5D6E-409C-BE32-E72D297353CC}">
                <c16:uniqueId val="{0000000B-20A7-424B-A07B-C700D8B3EF0C}"/>
              </c:ext>
            </c:extLst>
          </c:dPt>
          <c:dPt>
            <c:idx val="6"/>
            <c:bubble3D val="0"/>
            <c:spPr>
              <a:solidFill>
                <a:srgbClr val="2980B9"/>
              </a:solidFill>
              <a:effectLst/>
            </c:spPr>
            <c:extLst>
              <c:ext xmlns:c16="http://schemas.microsoft.com/office/drawing/2014/chart" uri="{C3380CC4-5D6E-409C-BE32-E72D297353CC}">
                <c16:uniqueId val="{0000000D-20A7-424B-A07B-C700D8B3EF0C}"/>
              </c:ext>
            </c:extLst>
          </c:dPt>
          <c:dPt>
            <c:idx val="7"/>
            <c:bubble3D val="0"/>
            <c:spPr>
              <a:solidFill>
                <a:srgbClr val="27AE60"/>
              </a:solidFill>
              <a:effectLst/>
            </c:spPr>
            <c:extLst>
              <c:ext xmlns:c16="http://schemas.microsoft.com/office/drawing/2014/chart" uri="{C3380CC4-5D6E-409C-BE32-E72D297353CC}">
                <c16:uniqueId val="{0000000F-20A7-424B-A07B-C700D8B3EF0C}"/>
              </c:ext>
            </c:extLst>
          </c:dPt>
          <c:dPt>
            <c:idx val="8"/>
            <c:bubble3D val="0"/>
            <c:spPr>
              <a:solidFill>
                <a:srgbClr val="718096"/>
              </a:solidFill>
              <a:effectLst/>
            </c:spPr>
            <c:extLst>
              <c:ext xmlns:c16="http://schemas.microsoft.com/office/drawing/2014/chart" uri="{C3380CC4-5D6E-409C-BE32-E72D297353CC}">
                <c16:uniqueId val="{00000011-20A7-424B-A07B-C700D8B3EF0C}"/>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0A7-424B-A07B-C700D8B3EF0C}"/>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0A7-424B-A07B-C700D8B3EF0C}"/>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0A7-424B-A07B-C700D8B3EF0C}"/>
                </c:ext>
              </c:extLst>
            </c:dLbl>
            <c:dLbl>
              <c:idx val="3"/>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0A7-424B-A07B-C700D8B3EF0C}"/>
                </c:ext>
              </c:extLst>
            </c:dLbl>
            <c:dLbl>
              <c:idx val="4"/>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0A7-424B-A07B-C700D8B3EF0C}"/>
                </c:ext>
              </c:extLst>
            </c:dLbl>
            <c:dLbl>
              <c:idx val="5"/>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20A7-424B-A07B-C700D8B3EF0C}"/>
                </c:ext>
              </c:extLst>
            </c:dLbl>
            <c:dLbl>
              <c:idx val="6"/>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20A7-424B-A07B-C700D8B3EF0C}"/>
                </c:ext>
              </c:extLst>
            </c:dLbl>
            <c:dLbl>
              <c:idx val="7"/>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20A7-424B-A07B-C700D8B3EF0C}"/>
                </c:ext>
              </c:extLst>
            </c:dLbl>
            <c:dLbl>
              <c:idx val="8"/>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1-20A7-424B-A07B-C700D8B3EF0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Sheet1!$A$2:$A$10</c:f>
              <c:strCache>
                <c:ptCount val="9"/>
                <c:pt idx="0">
                  <c:v>3002P</c:v>
                </c:pt>
                <c:pt idx="1">
                  <c:v>4500C</c:v>
                </c:pt>
                <c:pt idx="2">
                  <c:v>2500C</c:v>
                </c:pt>
                <c:pt idx="3">
                  <c:v>3002C</c:v>
                </c:pt>
                <c:pt idx="4">
                  <c:v>2500P</c:v>
                </c:pt>
                <c:pt idx="5">
                  <c:v>5001P</c:v>
                </c:pt>
                <c:pt idx="6">
                  <c:v>5001C</c:v>
                </c:pt>
                <c:pt idx="7">
                  <c:v>4500P</c:v>
                </c:pt>
                <c:pt idx="8">
                  <c:v>4055T</c:v>
                </c:pt>
              </c:strCache>
            </c:strRef>
          </c:cat>
          <c:val>
            <c:numRef>
              <c:f>Sheet1!$B$2:$B$10</c:f>
              <c:numCache>
                <c:formatCode>General</c:formatCode>
                <c:ptCount val="9"/>
                <c:pt idx="0">
                  <c:v>30.2</c:v>
                </c:pt>
                <c:pt idx="1">
                  <c:v>19.579999999999998</c:v>
                </c:pt>
                <c:pt idx="2">
                  <c:v>8.9499999999999993</c:v>
                </c:pt>
                <c:pt idx="3">
                  <c:v>8.5399999999999991</c:v>
                </c:pt>
                <c:pt idx="4">
                  <c:v>7.14</c:v>
                </c:pt>
                <c:pt idx="5">
                  <c:v>5.46</c:v>
                </c:pt>
                <c:pt idx="6">
                  <c:v>2.09</c:v>
                </c:pt>
                <c:pt idx="7">
                  <c:v>1.79</c:v>
                </c:pt>
                <c:pt idx="8">
                  <c:v>1.38</c:v>
                </c:pt>
              </c:numCache>
            </c:numRef>
          </c:val>
          <c:extLst>
            <c:ext xmlns:c16="http://schemas.microsoft.com/office/drawing/2014/chart" uri="{C3380CC4-5D6E-409C-BE32-E72D297353CC}">
              <c16:uniqueId val="{00000012-20A7-424B-A07B-C700D8B3EF0C}"/>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3162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998B"/>
          </a:solidFill>
          <a:ln w="12700">
            <a:solidFill>
              <a:srgbClr val="1B998B"/>
            </a:solidFill>
            <a:prstDash val="solid"/>
          </a:ln>
        </p:spPr>
      </p:sp>
      <p:sp>
        <p:nvSpPr>
          <p:cNvPr id="3" name="Shape 1"/>
          <p:cNvSpPr/>
          <p:nvPr/>
        </p:nvSpPr>
        <p:spPr>
          <a:xfrm>
            <a:off x="0" y="5070348"/>
            <a:ext cx="9144000" cy="73152"/>
          </a:xfrm>
          <a:prstGeom prst="rect">
            <a:avLst/>
          </a:prstGeom>
          <a:solidFill>
            <a:srgbClr val="1B998B"/>
          </a:solidFill>
          <a:ln w="12700">
            <a:solidFill>
              <a:srgbClr val="1B998B"/>
            </a:solidFill>
            <a:prstDash val="solid"/>
          </a:ln>
        </p:spPr>
      </p:sp>
      <p:sp>
        <p:nvSpPr>
          <p:cNvPr id="4" name="Text 2"/>
          <p:cNvSpPr/>
          <p:nvPr/>
        </p:nvSpPr>
        <p:spPr>
          <a:xfrm>
            <a:off x="548640" y="548640"/>
            <a:ext cx="82296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RETAIL SALES &amp;</a:t>
            </a:r>
            <a:endParaRPr lang="en-US" sz="4400" dirty="0"/>
          </a:p>
        </p:txBody>
      </p:sp>
      <p:sp>
        <p:nvSpPr>
          <p:cNvPr id="5" name="Text 3"/>
          <p:cNvSpPr/>
          <p:nvPr/>
        </p:nvSpPr>
        <p:spPr>
          <a:xfrm>
            <a:off x="548640" y="1280160"/>
            <a:ext cx="8229600" cy="822960"/>
          </a:xfrm>
          <a:prstGeom prst="rect">
            <a:avLst/>
          </a:prstGeom>
          <a:noFill/>
          <a:ln/>
        </p:spPr>
        <p:txBody>
          <a:bodyPr wrap="square" lIns="0" tIns="0" rIns="0" bIns="0" rtlCol="0" anchor="ctr"/>
          <a:lstStyle/>
          <a:p>
            <a:pPr marL="0" indent="0" algn="l">
              <a:buNone/>
            </a:pPr>
            <a:r>
              <a:rPr lang="en-US" sz="4400" b="1" dirty="0">
                <a:solidFill>
                  <a:srgbClr val="2EC4B6"/>
                </a:solidFill>
                <a:latin typeface="Calibri" pitchFamily="34" charset="0"/>
                <a:ea typeface="Calibri" pitchFamily="34" charset="-122"/>
                <a:cs typeface="Calibri" pitchFamily="34" charset="-120"/>
              </a:rPr>
              <a:t>REVENUE PERFORMANCE</a:t>
            </a:r>
            <a:endParaRPr lang="en-US" sz="4400" dirty="0"/>
          </a:p>
        </p:txBody>
      </p:sp>
      <p:sp>
        <p:nvSpPr>
          <p:cNvPr id="6" name="Text 4"/>
          <p:cNvSpPr/>
          <p:nvPr/>
        </p:nvSpPr>
        <p:spPr>
          <a:xfrm>
            <a:off x="548640" y="2011680"/>
            <a:ext cx="82296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ANALYSIS</a:t>
            </a:r>
            <a:endParaRPr lang="en-US" sz="4400" dirty="0"/>
          </a:p>
        </p:txBody>
      </p:sp>
      <p:sp>
        <p:nvSpPr>
          <p:cNvPr id="7" name="Text 5"/>
          <p:cNvSpPr/>
          <p:nvPr/>
        </p:nvSpPr>
        <p:spPr>
          <a:xfrm>
            <a:off x="548640" y="3017520"/>
            <a:ext cx="8229600" cy="365760"/>
          </a:xfrm>
          <a:prstGeom prst="rect">
            <a:avLst/>
          </a:prstGeom>
          <a:noFill/>
          <a:ln/>
        </p:spPr>
        <p:txBody>
          <a:bodyPr wrap="square" lIns="0" tIns="0" rIns="0" bIns="0" rtlCol="0" anchor="ctr"/>
          <a:lstStyle/>
          <a:p>
            <a:pPr marL="0" indent="0" algn="l">
              <a:buNone/>
            </a:pPr>
            <a:r>
              <a:rPr lang="en-US" sz="1400" dirty="0">
                <a:solidFill>
                  <a:srgbClr val="CBD5E0"/>
                </a:solidFill>
                <a:latin typeface="Calibri" pitchFamily="34" charset="0"/>
                <a:ea typeface="Calibri" pitchFamily="34" charset="-122"/>
                <a:cs typeface="Calibri" pitchFamily="34" charset="-120"/>
              </a:rPr>
              <a:t>Nigeria Retail Sales Dataset  |  Across 6 Regions  |  35,957 Transactions</a:t>
            </a:r>
            <a:endParaRPr lang="en-US" sz="1400" dirty="0"/>
          </a:p>
        </p:txBody>
      </p:sp>
      <p:sp>
        <p:nvSpPr>
          <p:cNvPr id="8" name="Text 6"/>
          <p:cNvSpPr/>
          <p:nvPr/>
        </p:nvSpPr>
        <p:spPr>
          <a:xfrm>
            <a:off x="548640" y="3474720"/>
            <a:ext cx="8229600" cy="320040"/>
          </a:xfrm>
          <a:prstGeom prst="rect">
            <a:avLst/>
          </a:prstGeom>
          <a:noFill/>
          <a:ln/>
        </p:spPr>
        <p:txBody>
          <a:bodyPr wrap="square" lIns="0" tIns="0" rIns="0" bIns="0" rtlCol="0" anchor="ctr"/>
          <a:lstStyle/>
          <a:p>
            <a:pPr marL="0" indent="0" algn="l">
              <a:buNone/>
            </a:pPr>
            <a:r>
              <a:rPr lang="en-US" sz="1300" dirty="0">
                <a:solidFill>
                  <a:srgbClr val="718096"/>
                </a:solidFill>
                <a:latin typeface="Calibri" pitchFamily="34" charset="0"/>
                <a:ea typeface="Calibri" pitchFamily="34" charset="-122"/>
                <a:cs typeface="Calibri" pitchFamily="34" charset="-120"/>
              </a:rPr>
              <a:t>Period: January 2014 – September 2015</a:t>
            </a:r>
            <a:endParaRPr lang="en-US" sz="1300" dirty="0"/>
          </a:p>
        </p:txBody>
      </p:sp>
      <p:sp>
        <p:nvSpPr>
          <p:cNvPr id="9" name="Text 7"/>
          <p:cNvSpPr/>
          <p:nvPr/>
        </p:nvSpPr>
        <p:spPr>
          <a:xfrm>
            <a:off x="548640" y="4663440"/>
            <a:ext cx="8229600" cy="274320"/>
          </a:xfrm>
          <a:prstGeom prst="rect">
            <a:avLst/>
          </a:prstGeom>
          <a:noFill/>
          <a:ln/>
        </p:spPr>
        <p:txBody>
          <a:bodyPr wrap="square" lIns="0" tIns="0" rIns="0" bIns="0" rtlCol="0" anchor="ctr"/>
          <a:lstStyle/>
          <a:p>
            <a:pPr marL="0" indent="0" algn="l">
              <a:buNone/>
            </a:pPr>
            <a:r>
              <a:rPr lang="en-US" sz="1100" dirty="0">
                <a:solidFill>
                  <a:srgbClr val="718096"/>
                </a:solidFill>
                <a:latin typeface="Calibri" pitchFamily="34" charset="0"/>
                <a:ea typeface="Calibri" pitchFamily="34" charset="-122"/>
                <a:cs typeface="Calibri" pitchFamily="34" charset="-120"/>
              </a:rPr>
              <a:t>Presented by Excel Group  |  June 2026</a:t>
            </a:r>
            <a:endParaRPr lang="en-US" sz="1100" dirty="0"/>
          </a:p>
        </p:txBody>
      </p:sp>
      <p:sp>
        <p:nvSpPr>
          <p:cNvPr id="10" name="Text 7">
            <a:extLst>
              <a:ext uri="{FF2B5EF4-FFF2-40B4-BE49-F238E27FC236}">
                <a16:creationId xmlns:a16="http://schemas.microsoft.com/office/drawing/2014/main" id="{5387825E-5897-4F98-94B6-C2C75C535527}"/>
              </a:ext>
            </a:extLst>
          </p:cNvPr>
          <p:cNvSpPr/>
          <p:nvPr/>
        </p:nvSpPr>
        <p:spPr>
          <a:xfrm>
            <a:off x="548640" y="4414643"/>
            <a:ext cx="8229600" cy="274320"/>
          </a:xfrm>
          <a:prstGeom prst="rect">
            <a:avLst/>
          </a:prstGeom>
          <a:noFill/>
          <a:ln/>
        </p:spPr>
        <p:txBody>
          <a:bodyPr wrap="square" lIns="0" tIns="0" rIns="0" bIns="0" rtlCol="0" anchor="ctr"/>
          <a:lstStyle/>
          <a:p>
            <a:pPr marL="0" indent="0" algn="l">
              <a:buNone/>
            </a:pPr>
            <a:r>
              <a:rPr lang="en-US" sz="1100" dirty="0">
                <a:solidFill>
                  <a:srgbClr val="718096"/>
                </a:solidFill>
                <a:latin typeface="Calibri" pitchFamily="34" charset="0"/>
                <a:ea typeface="Calibri" pitchFamily="34" charset="-122"/>
                <a:cs typeface="Calibri" pitchFamily="34" charset="-120"/>
              </a:rPr>
              <a:t>Final Data Analysis Project  |  March Cohort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19">
            <a:extLst>
              <a:ext uri="{FF2B5EF4-FFF2-40B4-BE49-F238E27FC236}">
                <a16:creationId xmlns:a16="http://schemas.microsoft.com/office/drawing/2014/main" id="{4059EB19-607A-4A57-8F8B-0D7AEEAC9D11}"/>
              </a:ext>
            </a:extLst>
          </p:cNvPr>
          <p:cNvSpPr/>
          <p:nvPr/>
        </p:nvSpPr>
        <p:spPr>
          <a:xfrm>
            <a:off x="6835397" y="2377440"/>
            <a:ext cx="2148840" cy="2514600"/>
          </a:xfrm>
          <a:prstGeom prst="rect">
            <a:avLst/>
          </a:prstGeom>
          <a:solidFill>
            <a:srgbClr val="F0F4F8"/>
          </a:solidFill>
          <a:ln w="12700">
            <a:solidFill>
              <a:srgbClr val="E2E8F0"/>
            </a:solidFill>
            <a:prstDash val="solid"/>
          </a:ln>
        </p:spPr>
      </p:sp>
      <p:sp>
        <p:nvSpPr>
          <p:cNvPr id="2" name="Text 2">
            <a:extLst>
              <a:ext uri="{FF2B5EF4-FFF2-40B4-BE49-F238E27FC236}">
                <a16:creationId xmlns:a16="http://schemas.microsoft.com/office/drawing/2014/main" id="{95A8E0A9-1815-4451-A16C-7B57C7BCAD41}"/>
              </a:ext>
            </a:extLst>
          </p:cNvPr>
          <p:cNvSpPr/>
          <p:nvPr/>
        </p:nvSpPr>
        <p:spPr>
          <a:xfrm>
            <a:off x="365760" y="804672"/>
            <a:ext cx="8412480" cy="1051560"/>
          </a:xfrm>
          <a:prstGeom prst="rect">
            <a:avLst/>
          </a:prstGeom>
          <a:noFill/>
          <a:ln/>
        </p:spPr>
        <p:txBody>
          <a:bodyPr wrap="square" lIns="0" tIns="0" rIns="0" bIns="0" rtlCol="0" anchor="ctr"/>
          <a:lstStyle/>
          <a:p>
            <a:pPr marL="0" indent="0" algn="just">
              <a:buNone/>
            </a:pPr>
            <a:r>
              <a:rPr lang="en-US" sz="1250" dirty="0">
                <a:solidFill>
                  <a:srgbClr val="2D3748"/>
                </a:solidFill>
                <a:latin typeface="Calibri" pitchFamily="34" charset="0"/>
                <a:ea typeface="Calibri" pitchFamily="34" charset="-122"/>
                <a:cs typeface="Calibri" pitchFamily="34" charset="-120"/>
              </a:rPr>
              <a:t>This project analyses the retail sales and revenue performance of a company that sells and services office equipment, including printers, copiers, and related products, across different regions, stores, and markets in Nigeria. The dataset covers 35,957 transactions recorded from January 2014 to September 2015 across 6 geopolitical regions. The goal is to uncover key revenue trends, identify top-performing regions and products, and provide data-driven recommendations to support better business decisions.</a:t>
            </a:r>
            <a:endParaRPr lang="en-US" sz="1250" dirty="0"/>
          </a:p>
        </p:txBody>
      </p:sp>
      <p:sp>
        <p:nvSpPr>
          <p:cNvPr id="3" name="Text 3">
            <a:extLst>
              <a:ext uri="{FF2B5EF4-FFF2-40B4-BE49-F238E27FC236}">
                <a16:creationId xmlns:a16="http://schemas.microsoft.com/office/drawing/2014/main" id="{98E0ACCB-566F-427D-A64B-D9C9DE3A0643}"/>
              </a:ext>
            </a:extLst>
          </p:cNvPr>
          <p:cNvSpPr/>
          <p:nvPr/>
        </p:nvSpPr>
        <p:spPr>
          <a:xfrm>
            <a:off x="365760" y="1864974"/>
            <a:ext cx="8412480" cy="320040"/>
          </a:xfrm>
          <a:prstGeom prst="rect">
            <a:avLst/>
          </a:prstGeom>
          <a:noFill/>
          <a:ln/>
        </p:spPr>
        <p:txBody>
          <a:bodyPr wrap="square" lIns="0" tIns="0" rIns="0" bIns="0" rtlCol="0" anchor="ctr"/>
          <a:lstStyle/>
          <a:p>
            <a:pPr marL="0" indent="0">
              <a:buNone/>
            </a:pPr>
            <a:r>
              <a:rPr lang="en-US" sz="1200" b="1" dirty="0">
                <a:solidFill>
                  <a:srgbClr val="1B998B"/>
                </a:solidFill>
                <a:latin typeface="Calibri" pitchFamily="34" charset="0"/>
                <a:ea typeface="Calibri" pitchFamily="34" charset="-122"/>
                <a:cs typeface="Calibri" pitchFamily="34" charset="-120"/>
              </a:rPr>
              <a:t>ACTIVITIES CARRIED OUT DURING THE ANALYSIS</a:t>
            </a:r>
            <a:endParaRPr lang="en-US" sz="1200" dirty="0"/>
          </a:p>
        </p:txBody>
      </p:sp>
      <p:sp>
        <p:nvSpPr>
          <p:cNvPr id="4" name="Shape 4">
            <a:extLst>
              <a:ext uri="{FF2B5EF4-FFF2-40B4-BE49-F238E27FC236}">
                <a16:creationId xmlns:a16="http://schemas.microsoft.com/office/drawing/2014/main" id="{D1BB8736-7604-4C24-A4AB-850CC697390A}"/>
              </a:ext>
            </a:extLst>
          </p:cNvPr>
          <p:cNvSpPr/>
          <p:nvPr/>
        </p:nvSpPr>
        <p:spPr>
          <a:xfrm>
            <a:off x="97976" y="2377440"/>
            <a:ext cx="2148840" cy="2514600"/>
          </a:xfrm>
          <a:prstGeom prst="rect">
            <a:avLst/>
          </a:prstGeom>
          <a:solidFill>
            <a:srgbClr val="F0F4F8"/>
          </a:solidFill>
          <a:ln w="12700">
            <a:solidFill>
              <a:srgbClr val="E2E8F0"/>
            </a:solidFill>
            <a:prstDash val="solid"/>
          </a:ln>
        </p:spPr>
      </p:sp>
      <p:sp>
        <p:nvSpPr>
          <p:cNvPr id="5" name="Shape 5">
            <a:extLst>
              <a:ext uri="{FF2B5EF4-FFF2-40B4-BE49-F238E27FC236}">
                <a16:creationId xmlns:a16="http://schemas.microsoft.com/office/drawing/2014/main" id="{26F56101-59AF-4C17-A114-C7C18696DB2D}"/>
              </a:ext>
            </a:extLst>
          </p:cNvPr>
          <p:cNvSpPr/>
          <p:nvPr/>
        </p:nvSpPr>
        <p:spPr>
          <a:xfrm>
            <a:off x="97976" y="2377440"/>
            <a:ext cx="2148840" cy="64008"/>
          </a:xfrm>
          <a:prstGeom prst="rect">
            <a:avLst/>
          </a:prstGeom>
          <a:solidFill>
            <a:srgbClr val="1B998B"/>
          </a:solidFill>
          <a:ln w="12700">
            <a:solidFill>
              <a:srgbClr val="1B998B"/>
            </a:solidFill>
            <a:prstDash val="solid"/>
          </a:ln>
        </p:spPr>
      </p:sp>
      <p:sp>
        <p:nvSpPr>
          <p:cNvPr id="6" name="Text 6">
            <a:extLst>
              <a:ext uri="{FF2B5EF4-FFF2-40B4-BE49-F238E27FC236}">
                <a16:creationId xmlns:a16="http://schemas.microsoft.com/office/drawing/2014/main" id="{1E8F3B59-0DED-4405-8044-03503124B524}"/>
              </a:ext>
            </a:extLst>
          </p:cNvPr>
          <p:cNvSpPr/>
          <p:nvPr/>
        </p:nvSpPr>
        <p:spPr>
          <a:xfrm>
            <a:off x="189416" y="2487168"/>
            <a:ext cx="457200" cy="347472"/>
          </a:xfrm>
          <a:prstGeom prst="rect">
            <a:avLst/>
          </a:prstGeom>
          <a:noFill/>
          <a:ln/>
        </p:spPr>
        <p:txBody>
          <a:bodyPr wrap="square" lIns="0" tIns="0" rIns="0" bIns="0" rtlCol="0" anchor="ctr"/>
          <a:lstStyle/>
          <a:p>
            <a:pPr marL="0" indent="0">
              <a:buNone/>
            </a:pPr>
            <a:r>
              <a:rPr lang="en-US" sz="1800" b="1" dirty="0">
                <a:solidFill>
                  <a:srgbClr val="1B998B"/>
                </a:solidFill>
                <a:latin typeface="Calibri" pitchFamily="34" charset="0"/>
                <a:ea typeface="Calibri" pitchFamily="34" charset="-122"/>
                <a:cs typeface="Calibri" pitchFamily="34" charset="-120"/>
              </a:rPr>
              <a:t>01</a:t>
            </a:r>
            <a:endParaRPr lang="en-US" sz="1800" dirty="0"/>
          </a:p>
        </p:txBody>
      </p:sp>
      <p:sp>
        <p:nvSpPr>
          <p:cNvPr id="7" name="Text 7">
            <a:extLst>
              <a:ext uri="{FF2B5EF4-FFF2-40B4-BE49-F238E27FC236}">
                <a16:creationId xmlns:a16="http://schemas.microsoft.com/office/drawing/2014/main" id="{2E479BE7-6CBA-4BA8-8A47-5F72414491DC}"/>
              </a:ext>
            </a:extLst>
          </p:cNvPr>
          <p:cNvSpPr/>
          <p:nvPr/>
        </p:nvSpPr>
        <p:spPr>
          <a:xfrm>
            <a:off x="189416" y="2852928"/>
            <a:ext cx="196596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Data Cleaning</a:t>
            </a:r>
            <a:endParaRPr lang="en-US" sz="1200" dirty="0"/>
          </a:p>
        </p:txBody>
      </p:sp>
      <p:sp>
        <p:nvSpPr>
          <p:cNvPr id="8" name="Text 8">
            <a:extLst>
              <a:ext uri="{FF2B5EF4-FFF2-40B4-BE49-F238E27FC236}">
                <a16:creationId xmlns:a16="http://schemas.microsoft.com/office/drawing/2014/main" id="{3981957C-571E-43F4-909B-82C26ECD809A}"/>
              </a:ext>
            </a:extLst>
          </p:cNvPr>
          <p:cNvSpPr/>
          <p:nvPr/>
        </p:nvSpPr>
        <p:spPr>
          <a:xfrm>
            <a:off x="189416" y="3218688"/>
            <a:ext cx="1965960" cy="16002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The raw dataset was cleaned using Power Query Editor in Excel. Steps included removing duplicates, fixing the Trade Date column type, trimming text columns, replacing null values, and extracting Month and Year fields.</a:t>
            </a:r>
            <a:endParaRPr lang="en-US" sz="1000" dirty="0"/>
          </a:p>
        </p:txBody>
      </p:sp>
      <p:sp>
        <p:nvSpPr>
          <p:cNvPr id="9" name="Shape 9">
            <a:extLst>
              <a:ext uri="{FF2B5EF4-FFF2-40B4-BE49-F238E27FC236}">
                <a16:creationId xmlns:a16="http://schemas.microsoft.com/office/drawing/2014/main" id="{0A2D69A5-6339-41CE-A9C0-F3ED81B03465}"/>
              </a:ext>
            </a:extLst>
          </p:cNvPr>
          <p:cNvSpPr/>
          <p:nvPr/>
        </p:nvSpPr>
        <p:spPr>
          <a:xfrm>
            <a:off x="2353832" y="2377440"/>
            <a:ext cx="2148840" cy="2514600"/>
          </a:xfrm>
          <a:prstGeom prst="rect">
            <a:avLst/>
          </a:prstGeom>
          <a:solidFill>
            <a:srgbClr val="F0F4F8"/>
          </a:solidFill>
          <a:ln w="12700">
            <a:solidFill>
              <a:srgbClr val="E2E8F0"/>
            </a:solidFill>
            <a:prstDash val="solid"/>
          </a:ln>
        </p:spPr>
      </p:sp>
      <p:sp>
        <p:nvSpPr>
          <p:cNvPr id="10" name="Shape 10">
            <a:extLst>
              <a:ext uri="{FF2B5EF4-FFF2-40B4-BE49-F238E27FC236}">
                <a16:creationId xmlns:a16="http://schemas.microsoft.com/office/drawing/2014/main" id="{689FD120-3113-4006-AC34-2B2D87F1F586}"/>
              </a:ext>
            </a:extLst>
          </p:cNvPr>
          <p:cNvSpPr/>
          <p:nvPr/>
        </p:nvSpPr>
        <p:spPr>
          <a:xfrm>
            <a:off x="2353832" y="2377440"/>
            <a:ext cx="2148840" cy="64008"/>
          </a:xfrm>
          <a:prstGeom prst="rect">
            <a:avLst/>
          </a:prstGeom>
          <a:solidFill>
            <a:srgbClr val="2980B9"/>
          </a:solidFill>
          <a:ln w="12700">
            <a:solidFill>
              <a:srgbClr val="2980B9"/>
            </a:solidFill>
            <a:prstDash val="solid"/>
          </a:ln>
        </p:spPr>
      </p:sp>
      <p:sp>
        <p:nvSpPr>
          <p:cNvPr id="11" name="Text 11">
            <a:extLst>
              <a:ext uri="{FF2B5EF4-FFF2-40B4-BE49-F238E27FC236}">
                <a16:creationId xmlns:a16="http://schemas.microsoft.com/office/drawing/2014/main" id="{B6777B7B-BB2B-42AB-8687-A9E5E1FD5BCB}"/>
              </a:ext>
            </a:extLst>
          </p:cNvPr>
          <p:cNvSpPr/>
          <p:nvPr/>
        </p:nvSpPr>
        <p:spPr>
          <a:xfrm>
            <a:off x="2445272" y="2487168"/>
            <a:ext cx="457200" cy="347472"/>
          </a:xfrm>
          <a:prstGeom prst="rect">
            <a:avLst/>
          </a:prstGeom>
          <a:noFill/>
          <a:ln/>
        </p:spPr>
        <p:txBody>
          <a:bodyPr wrap="square" lIns="0" tIns="0" rIns="0" bIns="0" rtlCol="0" anchor="ctr"/>
          <a:lstStyle/>
          <a:p>
            <a:pPr marL="0" indent="0">
              <a:buNone/>
            </a:pPr>
            <a:r>
              <a:rPr lang="en-US" sz="1800" b="1" dirty="0">
                <a:solidFill>
                  <a:srgbClr val="2980B9"/>
                </a:solidFill>
                <a:latin typeface="Calibri" pitchFamily="34" charset="0"/>
                <a:ea typeface="Calibri" pitchFamily="34" charset="-122"/>
                <a:cs typeface="Calibri" pitchFamily="34" charset="-120"/>
              </a:rPr>
              <a:t>02</a:t>
            </a:r>
            <a:endParaRPr lang="en-US" sz="1800" dirty="0"/>
          </a:p>
        </p:txBody>
      </p:sp>
      <p:sp>
        <p:nvSpPr>
          <p:cNvPr id="12" name="Text 12">
            <a:extLst>
              <a:ext uri="{FF2B5EF4-FFF2-40B4-BE49-F238E27FC236}">
                <a16:creationId xmlns:a16="http://schemas.microsoft.com/office/drawing/2014/main" id="{15693D4A-AE96-42CD-A8E3-FB282EE550EF}"/>
              </a:ext>
            </a:extLst>
          </p:cNvPr>
          <p:cNvSpPr/>
          <p:nvPr/>
        </p:nvSpPr>
        <p:spPr>
          <a:xfrm>
            <a:off x="2445272" y="2852928"/>
            <a:ext cx="196596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Data Modeling</a:t>
            </a:r>
            <a:endParaRPr lang="en-US" sz="1200" dirty="0"/>
          </a:p>
        </p:txBody>
      </p:sp>
      <p:sp>
        <p:nvSpPr>
          <p:cNvPr id="13" name="Text 13">
            <a:extLst>
              <a:ext uri="{FF2B5EF4-FFF2-40B4-BE49-F238E27FC236}">
                <a16:creationId xmlns:a16="http://schemas.microsoft.com/office/drawing/2014/main" id="{DB005148-A38E-4FE9-9375-79C0137E05D5}"/>
              </a:ext>
            </a:extLst>
          </p:cNvPr>
          <p:cNvSpPr/>
          <p:nvPr/>
        </p:nvSpPr>
        <p:spPr>
          <a:xfrm>
            <a:off x="2445272" y="3218688"/>
            <a:ext cx="1965960" cy="16002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 Star Schema data model was designed with one central Fact table (Sales Transactions) connected to four Dimension tables that is Date, Location, Product and Day Category  using one-to-many relationships.</a:t>
            </a:r>
            <a:endParaRPr lang="en-US" sz="1000" dirty="0"/>
          </a:p>
        </p:txBody>
      </p:sp>
      <p:sp>
        <p:nvSpPr>
          <p:cNvPr id="14" name="Shape 14">
            <a:extLst>
              <a:ext uri="{FF2B5EF4-FFF2-40B4-BE49-F238E27FC236}">
                <a16:creationId xmlns:a16="http://schemas.microsoft.com/office/drawing/2014/main" id="{6041B285-171B-427E-AEB2-639EB79A0E34}"/>
              </a:ext>
            </a:extLst>
          </p:cNvPr>
          <p:cNvSpPr/>
          <p:nvPr/>
        </p:nvSpPr>
        <p:spPr>
          <a:xfrm>
            <a:off x="4589592" y="2377440"/>
            <a:ext cx="2148840" cy="2514600"/>
          </a:xfrm>
          <a:prstGeom prst="rect">
            <a:avLst/>
          </a:prstGeom>
          <a:solidFill>
            <a:srgbClr val="F0F4F8"/>
          </a:solidFill>
          <a:ln w="12700">
            <a:solidFill>
              <a:srgbClr val="E2E8F0"/>
            </a:solidFill>
            <a:prstDash val="solid"/>
          </a:ln>
        </p:spPr>
      </p:sp>
      <p:sp>
        <p:nvSpPr>
          <p:cNvPr id="15" name="Shape 15">
            <a:extLst>
              <a:ext uri="{FF2B5EF4-FFF2-40B4-BE49-F238E27FC236}">
                <a16:creationId xmlns:a16="http://schemas.microsoft.com/office/drawing/2014/main" id="{CCF2855C-5DD0-4D82-A6DE-27D51F5C34F3}"/>
              </a:ext>
            </a:extLst>
          </p:cNvPr>
          <p:cNvSpPr/>
          <p:nvPr/>
        </p:nvSpPr>
        <p:spPr>
          <a:xfrm>
            <a:off x="4589592" y="2377440"/>
            <a:ext cx="2148840" cy="64008"/>
          </a:xfrm>
          <a:prstGeom prst="rect">
            <a:avLst/>
          </a:prstGeom>
          <a:solidFill>
            <a:srgbClr val="8E44AD"/>
          </a:solidFill>
          <a:ln w="12700">
            <a:solidFill>
              <a:srgbClr val="8E44AD"/>
            </a:solidFill>
            <a:prstDash val="solid"/>
          </a:ln>
        </p:spPr>
      </p:sp>
      <p:sp>
        <p:nvSpPr>
          <p:cNvPr id="16" name="Text 16">
            <a:extLst>
              <a:ext uri="{FF2B5EF4-FFF2-40B4-BE49-F238E27FC236}">
                <a16:creationId xmlns:a16="http://schemas.microsoft.com/office/drawing/2014/main" id="{2EC276C1-CC72-4A9B-8771-0F9F119E3BD0}"/>
              </a:ext>
            </a:extLst>
          </p:cNvPr>
          <p:cNvSpPr/>
          <p:nvPr/>
        </p:nvSpPr>
        <p:spPr>
          <a:xfrm>
            <a:off x="4681032" y="2487168"/>
            <a:ext cx="457200" cy="347472"/>
          </a:xfrm>
          <a:prstGeom prst="rect">
            <a:avLst/>
          </a:prstGeom>
          <a:noFill/>
          <a:ln/>
        </p:spPr>
        <p:txBody>
          <a:bodyPr wrap="square" lIns="0" tIns="0" rIns="0" bIns="0" rtlCol="0" anchor="ctr"/>
          <a:lstStyle/>
          <a:p>
            <a:pPr marL="0" indent="0">
              <a:buNone/>
            </a:pPr>
            <a:r>
              <a:rPr lang="en-US" sz="1800" b="1" dirty="0">
                <a:solidFill>
                  <a:srgbClr val="8E44AD"/>
                </a:solidFill>
                <a:latin typeface="Calibri" pitchFamily="34" charset="0"/>
                <a:ea typeface="Calibri" pitchFamily="34" charset="-122"/>
                <a:cs typeface="Calibri" pitchFamily="34" charset="-120"/>
              </a:rPr>
              <a:t>03</a:t>
            </a:r>
            <a:endParaRPr lang="en-US" sz="1800" dirty="0"/>
          </a:p>
        </p:txBody>
      </p:sp>
      <p:sp>
        <p:nvSpPr>
          <p:cNvPr id="17" name="Text 17">
            <a:extLst>
              <a:ext uri="{FF2B5EF4-FFF2-40B4-BE49-F238E27FC236}">
                <a16:creationId xmlns:a16="http://schemas.microsoft.com/office/drawing/2014/main" id="{8E33534A-F8C9-4412-8FDC-7BF227D4A766}"/>
              </a:ext>
            </a:extLst>
          </p:cNvPr>
          <p:cNvSpPr/>
          <p:nvPr/>
        </p:nvSpPr>
        <p:spPr>
          <a:xfrm>
            <a:off x="4681032" y="2852928"/>
            <a:ext cx="196596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Pivot Tables</a:t>
            </a:r>
            <a:endParaRPr lang="en-US" sz="1200" dirty="0"/>
          </a:p>
        </p:txBody>
      </p:sp>
      <p:sp>
        <p:nvSpPr>
          <p:cNvPr id="18" name="Text 18">
            <a:extLst>
              <a:ext uri="{FF2B5EF4-FFF2-40B4-BE49-F238E27FC236}">
                <a16:creationId xmlns:a16="http://schemas.microsoft.com/office/drawing/2014/main" id="{D6A7600E-84B0-40EC-8E9B-237C14110B99}"/>
              </a:ext>
            </a:extLst>
          </p:cNvPr>
          <p:cNvSpPr/>
          <p:nvPr/>
        </p:nvSpPr>
        <p:spPr>
          <a:xfrm>
            <a:off x="4681032" y="3218688"/>
            <a:ext cx="1965960" cy="16002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Pivot tables were used to summarise and explore the data , calculating total revenue, units sold, and transaction counts broken down by region, line of business, day category, market, store, and product model.</a:t>
            </a:r>
            <a:endParaRPr lang="en-US" sz="1000" dirty="0"/>
          </a:p>
        </p:txBody>
      </p:sp>
      <p:sp>
        <p:nvSpPr>
          <p:cNvPr id="19" name="Text 21">
            <a:extLst>
              <a:ext uri="{FF2B5EF4-FFF2-40B4-BE49-F238E27FC236}">
                <a16:creationId xmlns:a16="http://schemas.microsoft.com/office/drawing/2014/main" id="{09C3C022-0C9D-4CD7-BE07-50432D9C9B30}"/>
              </a:ext>
            </a:extLst>
          </p:cNvPr>
          <p:cNvSpPr/>
          <p:nvPr/>
        </p:nvSpPr>
        <p:spPr>
          <a:xfrm>
            <a:off x="7017269" y="2487168"/>
            <a:ext cx="457200" cy="347472"/>
          </a:xfrm>
          <a:prstGeom prst="rect">
            <a:avLst/>
          </a:prstGeom>
          <a:noFill/>
          <a:ln/>
        </p:spPr>
        <p:txBody>
          <a:bodyPr wrap="square" lIns="0" tIns="0" rIns="0" bIns="0" rtlCol="0" anchor="ctr"/>
          <a:lstStyle/>
          <a:p>
            <a:pPr marL="0" indent="0">
              <a:buNone/>
            </a:pPr>
            <a:r>
              <a:rPr lang="en-US" sz="1800" b="1" dirty="0">
                <a:solidFill>
                  <a:srgbClr val="E67E22"/>
                </a:solidFill>
                <a:latin typeface="Calibri" pitchFamily="34" charset="0"/>
                <a:ea typeface="Calibri" pitchFamily="34" charset="-122"/>
                <a:cs typeface="Calibri" pitchFamily="34" charset="-120"/>
              </a:rPr>
              <a:t>04</a:t>
            </a:r>
            <a:endParaRPr lang="en-US" sz="1800" dirty="0"/>
          </a:p>
        </p:txBody>
      </p:sp>
      <p:sp>
        <p:nvSpPr>
          <p:cNvPr id="20" name="Text 22">
            <a:extLst>
              <a:ext uri="{FF2B5EF4-FFF2-40B4-BE49-F238E27FC236}">
                <a16:creationId xmlns:a16="http://schemas.microsoft.com/office/drawing/2014/main" id="{28FD9020-5706-43F8-A760-19FAA1F6375E}"/>
              </a:ext>
            </a:extLst>
          </p:cNvPr>
          <p:cNvSpPr/>
          <p:nvPr/>
        </p:nvSpPr>
        <p:spPr>
          <a:xfrm>
            <a:off x="7017269" y="2852928"/>
            <a:ext cx="196596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Dashboard Creation</a:t>
            </a:r>
            <a:endParaRPr lang="en-US" sz="1200" dirty="0"/>
          </a:p>
        </p:txBody>
      </p:sp>
      <p:sp>
        <p:nvSpPr>
          <p:cNvPr id="21" name="Text 23">
            <a:extLst>
              <a:ext uri="{FF2B5EF4-FFF2-40B4-BE49-F238E27FC236}">
                <a16:creationId xmlns:a16="http://schemas.microsoft.com/office/drawing/2014/main" id="{538363C0-D720-40CD-A9E0-A640AB2EEE71}"/>
              </a:ext>
            </a:extLst>
          </p:cNvPr>
          <p:cNvSpPr/>
          <p:nvPr/>
        </p:nvSpPr>
        <p:spPr>
          <a:xfrm>
            <a:off x="7017269" y="3218688"/>
            <a:ext cx="1965960" cy="16002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An interactive dashboard was built displaying KPI cards, bar charts, pie charts, and a monthly trend line, providing a clear visual summary of sales performance across all regions and product lines.</a:t>
            </a:r>
            <a:endParaRPr lang="en-US" sz="1000" dirty="0"/>
          </a:p>
        </p:txBody>
      </p:sp>
      <p:sp>
        <p:nvSpPr>
          <p:cNvPr id="22" name="Text 24">
            <a:extLst>
              <a:ext uri="{FF2B5EF4-FFF2-40B4-BE49-F238E27FC236}">
                <a16:creationId xmlns:a16="http://schemas.microsoft.com/office/drawing/2014/main" id="{6582EA68-31D7-4D9E-97D6-D03CA0A1AB43}"/>
              </a:ext>
            </a:extLst>
          </p:cNvPr>
          <p:cNvSpPr/>
          <p:nvPr/>
        </p:nvSpPr>
        <p:spPr>
          <a:xfrm>
            <a:off x="228600" y="4914900"/>
            <a:ext cx="8412480" cy="228600"/>
          </a:xfrm>
          <a:prstGeom prst="rect">
            <a:avLst/>
          </a:prstGeom>
          <a:noFill/>
          <a:ln/>
        </p:spPr>
        <p:txBody>
          <a:bodyPr wrap="square" lIns="0" tIns="0" rIns="0" bIns="0" rtlCol="0" anchor="ctr"/>
          <a:lstStyle/>
          <a:p>
            <a:pPr marL="0" indent="0">
              <a:buNone/>
            </a:pPr>
            <a:r>
              <a:rPr lang="en-US" sz="950" i="1" dirty="0">
                <a:solidFill>
                  <a:srgbClr val="718096"/>
                </a:solidFill>
                <a:latin typeface="Calibri" pitchFamily="34" charset="0"/>
                <a:ea typeface="Calibri" pitchFamily="34" charset="-122"/>
                <a:cs typeface="Calibri" pitchFamily="34" charset="-120"/>
              </a:rPr>
              <a:t>Data Source: Nigeria Retail Sales Dataset  |  Period: January 2014 – September 2015  |  Tools: Microsoft Excel &amp; Power Query</a:t>
            </a:r>
            <a:endParaRPr lang="en-US" sz="950" dirty="0"/>
          </a:p>
        </p:txBody>
      </p:sp>
      <p:sp>
        <p:nvSpPr>
          <p:cNvPr id="24" name="Shape 20">
            <a:extLst>
              <a:ext uri="{FF2B5EF4-FFF2-40B4-BE49-F238E27FC236}">
                <a16:creationId xmlns:a16="http://schemas.microsoft.com/office/drawing/2014/main" id="{442FABC1-4C14-49FC-9ACB-8875001DC2ED}"/>
              </a:ext>
            </a:extLst>
          </p:cNvPr>
          <p:cNvSpPr/>
          <p:nvPr/>
        </p:nvSpPr>
        <p:spPr>
          <a:xfrm>
            <a:off x="6835398" y="2377440"/>
            <a:ext cx="2148840" cy="64008"/>
          </a:xfrm>
          <a:prstGeom prst="rect">
            <a:avLst/>
          </a:prstGeom>
          <a:solidFill>
            <a:srgbClr val="E67E22"/>
          </a:solidFill>
          <a:ln w="12700">
            <a:solidFill>
              <a:srgbClr val="E67E22"/>
            </a:solidFill>
            <a:prstDash val="solid"/>
          </a:ln>
        </p:spPr>
      </p:sp>
      <p:sp>
        <p:nvSpPr>
          <p:cNvPr id="25" name="Shape 20">
            <a:extLst>
              <a:ext uri="{FF2B5EF4-FFF2-40B4-BE49-F238E27FC236}">
                <a16:creationId xmlns:a16="http://schemas.microsoft.com/office/drawing/2014/main" id="{2F18D82B-1C03-4906-9B87-ABF01F2A8330}"/>
              </a:ext>
            </a:extLst>
          </p:cNvPr>
          <p:cNvSpPr/>
          <p:nvPr/>
        </p:nvSpPr>
        <p:spPr>
          <a:xfrm>
            <a:off x="7086600" y="2377440"/>
            <a:ext cx="1896629" cy="45719"/>
          </a:xfrm>
          <a:prstGeom prst="rect">
            <a:avLst/>
          </a:prstGeom>
          <a:solidFill>
            <a:srgbClr val="E67E22"/>
          </a:solidFill>
          <a:ln w="12700">
            <a:solidFill>
              <a:srgbClr val="E67E22"/>
            </a:solidFill>
            <a:prstDash val="solid"/>
          </a:ln>
        </p:spPr>
      </p:sp>
      <p:sp>
        <p:nvSpPr>
          <p:cNvPr id="27" name="Shape 0">
            <a:extLst>
              <a:ext uri="{FF2B5EF4-FFF2-40B4-BE49-F238E27FC236}">
                <a16:creationId xmlns:a16="http://schemas.microsoft.com/office/drawing/2014/main" id="{0D127C73-F868-4D79-9530-A44AF8EC71BD}"/>
              </a:ext>
            </a:extLst>
          </p:cNvPr>
          <p:cNvSpPr/>
          <p:nvPr/>
        </p:nvSpPr>
        <p:spPr>
          <a:xfrm>
            <a:off x="0" y="0"/>
            <a:ext cx="9144000" cy="685800"/>
          </a:xfrm>
          <a:prstGeom prst="rect">
            <a:avLst/>
          </a:prstGeom>
          <a:solidFill>
            <a:srgbClr val="0D1B2A"/>
          </a:solidFill>
          <a:ln w="12700">
            <a:solidFill>
              <a:srgbClr val="0D1B2A"/>
            </a:solidFill>
            <a:prstDash val="solid"/>
          </a:ln>
        </p:spPr>
      </p:sp>
      <p:sp>
        <p:nvSpPr>
          <p:cNvPr id="29" name="TextBox 28">
            <a:extLst>
              <a:ext uri="{FF2B5EF4-FFF2-40B4-BE49-F238E27FC236}">
                <a16:creationId xmlns:a16="http://schemas.microsoft.com/office/drawing/2014/main" id="{69E6F661-C0B3-4CEC-A005-61BEE4B9837C}"/>
              </a:ext>
            </a:extLst>
          </p:cNvPr>
          <p:cNvSpPr txBox="1"/>
          <p:nvPr/>
        </p:nvSpPr>
        <p:spPr>
          <a:xfrm>
            <a:off x="322560" y="158553"/>
            <a:ext cx="4587072" cy="369332"/>
          </a:xfrm>
          <a:prstGeom prst="rect">
            <a:avLst/>
          </a:prstGeom>
          <a:noFill/>
        </p:spPr>
        <p:txBody>
          <a:bodyPr wrap="square">
            <a:spAutoFit/>
          </a:bodyPr>
          <a:lstStyle/>
          <a:p>
            <a:pPr marL="0" indent="0">
              <a:buNone/>
            </a:pPr>
            <a:r>
              <a:rPr lang="en-US" b="1" dirty="0">
                <a:solidFill>
                  <a:srgbClr val="FFFFFF"/>
                </a:solidFill>
                <a:latin typeface="Calibri" pitchFamily="34" charset="0"/>
                <a:cs typeface="Calibri" pitchFamily="34" charset="-120"/>
              </a:rPr>
              <a:t>INTRODUCTION</a:t>
            </a:r>
            <a:endParaRPr lang="en-US" sz="1800" dirty="0"/>
          </a:p>
        </p:txBody>
      </p:sp>
    </p:spTree>
    <p:extLst>
      <p:ext uri="{BB962C8B-B14F-4D97-AF65-F5344CB8AC3E}">
        <p14:creationId xmlns:p14="http://schemas.microsoft.com/office/powerpoint/2010/main" val="1590823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STATEMENT OF PROBLEM</a:t>
            </a:r>
            <a:endParaRPr lang="en-US" sz="2000" dirty="0"/>
          </a:p>
        </p:txBody>
      </p:sp>
      <p:sp>
        <p:nvSpPr>
          <p:cNvPr id="4" name="Shape 2"/>
          <p:cNvSpPr/>
          <p:nvPr/>
        </p:nvSpPr>
        <p:spPr>
          <a:xfrm>
            <a:off x="320040" y="868680"/>
            <a:ext cx="502920" cy="502920"/>
          </a:xfrm>
          <a:prstGeom prst="ellipse">
            <a:avLst/>
          </a:prstGeom>
          <a:solidFill>
            <a:srgbClr val="1B998B"/>
          </a:solidFill>
          <a:ln w="12700">
            <a:solidFill>
              <a:srgbClr val="1B998B"/>
            </a:solidFill>
            <a:prstDash val="solid"/>
          </a:ln>
        </p:spPr>
      </p:sp>
      <p:sp>
        <p:nvSpPr>
          <p:cNvPr id="5" name="Text 3"/>
          <p:cNvSpPr/>
          <p:nvPr/>
        </p:nvSpPr>
        <p:spPr>
          <a:xfrm>
            <a:off x="320040" y="868680"/>
            <a:ext cx="502920" cy="502920"/>
          </a:xfrm>
          <a:prstGeom prst="rect">
            <a:avLst/>
          </a:prstGeom>
          <a:noFill/>
          <a:ln/>
        </p:spPr>
        <p:txBody>
          <a:bodyPr wrap="square" rtlCol="0" anchor="ctr"/>
          <a:lstStyle/>
          <a:p>
            <a:pPr marL="0" indent="0" algn="ctr">
              <a:buNone/>
            </a:pPr>
            <a:r>
              <a:rPr lang="en-US" sz="2000" b="1" dirty="0">
                <a:solidFill>
                  <a:srgbClr val="FFFFFF"/>
                </a:solidFill>
              </a:rPr>
              <a:t>?</a:t>
            </a:r>
            <a:endParaRPr lang="en-US" sz="2000" dirty="0"/>
          </a:p>
        </p:txBody>
      </p:sp>
      <p:sp>
        <p:nvSpPr>
          <p:cNvPr id="6" name="Text 4"/>
          <p:cNvSpPr/>
          <p:nvPr/>
        </p:nvSpPr>
        <p:spPr>
          <a:xfrm>
            <a:off x="960120" y="896112"/>
            <a:ext cx="7772400" cy="365760"/>
          </a:xfrm>
          <a:prstGeom prst="rect">
            <a:avLst/>
          </a:prstGeom>
          <a:noFill/>
          <a:ln/>
        </p:spPr>
        <p:txBody>
          <a:bodyPr wrap="square" lIns="0" tIns="0" rIns="0" bIns="0"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The Problem</a:t>
            </a:r>
            <a:endParaRPr lang="en-US" sz="1500" dirty="0"/>
          </a:p>
        </p:txBody>
      </p:sp>
      <p:sp>
        <p:nvSpPr>
          <p:cNvPr id="7" name="Text 5"/>
          <p:cNvSpPr/>
          <p:nvPr/>
        </p:nvSpPr>
        <p:spPr>
          <a:xfrm>
            <a:off x="365760" y="1371600"/>
            <a:ext cx="8412480" cy="1097280"/>
          </a:xfrm>
          <a:prstGeom prst="rect">
            <a:avLst/>
          </a:prstGeom>
          <a:noFill/>
          <a:ln/>
        </p:spPr>
        <p:txBody>
          <a:bodyPr wrap="square" lIns="0" tIns="0" rIns="0" bIns="0" rtlCol="0" anchor="ctr"/>
          <a:lstStyle/>
          <a:p>
            <a:pPr marL="0" indent="0" algn="just">
              <a:buNone/>
            </a:pPr>
            <a:r>
              <a:rPr lang="en-US" sz="1300" dirty="0">
                <a:solidFill>
                  <a:srgbClr val="2D3748"/>
                </a:solidFill>
                <a:latin typeface="Calibri" pitchFamily="34" charset="0"/>
                <a:ea typeface="Calibri" pitchFamily="34" charset="-122"/>
                <a:cs typeface="Calibri" pitchFamily="34" charset="-120"/>
              </a:rPr>
              <a:t>Retail businesses operating across multiple regions in Nigeria often struggle to identify which regions, product lines, and sales periods contribute most to overall revenue performance. Without proper data analysis, decision-makers cannot determine where to focus resources, which products to prioritise, or how operational factors like day type affect sales outcomes.</a:t>
            </a:r>
            <a:endParaRPr lang="en-US" sz="1300" dirty="0"/>
          </a:p>
        </p:txBody>
      </p:sp>
      <p:sp>
        <p:nvSpPr>
          <p:cNvPr id="8" name="Shape 6"/>
          <p:cNvSpPr/>
          <p:nvPr/>
        </p:nvSpPr>
        <p:spPr>
          <a:xfrm>
            <a:off x="274320" y="2651760"/>
            <a:ext cx="2743200" cy="2286000"/>
          </a:xfrm>
          <a:prstGeom prst="rect">
            <a:avLst/>
          </a:prstGeom>
          <a:solidFill>
            <a:srgbClr val="F0F4F8"/>
          </a:solidFill>
          <a:ln w="12700">
            <a:solidFill>
              <a:srgbClr val="E2E8F0"/>
            </a:solidFill>
            <a:prstDash val="solid"/>
          </a:ln>
        </p:spPr>
      </p:sp>
      <p:sp>
        <p:nvSpPr>
          <p:cNvPr id="9" name="Shape 7"/>
          <p:cNvSpPr/>
          <p:nvPr/>
        </p:nvSpPr>
        <p:spPr>
          <a:xfrm>
            <a:off x="274320" y="2651760"/>
            <a:ext cx="2743200" cy="73152"/>
          </a:xfrm>
          <a:prstGeom prst="rect">
            <a:avLst/>
          </a:prstGeom>
          <a:solidFill>
            <a:srgbClr val="1B998B"/>
          </a:solidFill>
          <a:ln w="12700">
            <a:solidFill>
              <a:srgbClr val="1B998B"/>
            </a:solidFill>
            <a:prstDash val="solid"/>
          </a:ln>
        </p:spPr>
      </p:sp>
      <p:sp>
        <p:nvSpPr>
          <p:cNvPr id="10" name="Text 8"/>
          <p:cNvSpPr/>
          <p:nvPr/>
        </p:nvSpPr>
        <p:spPr>
          <a:xfrm>
            <a:off x="411480" y="2788920"/>
            <a:ext cx="2468880" cy="36576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Regional Gaps</a:t>
            </a:r>
            <a:endParaRPr lang="en-US" sz="1300" dirty="0"/>
          </a:p>
        </p:txBody>
      </p:sp>
      <p:sp>
        <p:nvSpPr>
          <p:cNvPr id="11" name="Text 9"/>
          <p:cNvSpPr/>
          <p:nvPr/>
        </p:nvSpPr>
        <p:spPr>
          <a:xfrm>
            <a:off x="411480" y="3200400"/>
            <a:ext cx="2468880" cy="15544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No visibility into which of the 6 geopolitical regions drives or drags overall revenue performance.</a:t>
            </a:r>
            <a:endParaRPr lang="en-US" sz="1100" dirty="0"/>
          </a:p>
        </p:txBody>
      </p:sp>
      <p:sp>
        <p:nvSpPr>
          <p:cNvPr id="12" name="Shape 10"/>
          <p:cNvSpPr/>
          <p:nvPr/>
        </p:nvSpPr>
        <p:spPr>
          <a:xfrm>
            <a:off x="3246120" y="2651760"/>
            <a:ext cx="2743200" cy="2286000"/>
          </a:xfrm>
          <a:prstGeom prst="rect">
            <a:avLst/>
          </a:prstGeom>
          <a:solidFill>
            <a:srgbClr val="F0F4F8"/>
          </a:solidFill>
          <a:ln w="12700">
            <a:solidFill>
              <a:srgbClr val="E2E8F0"/>
            </a:solidFill>
            <a:prstDash val="solid"/>
          </a:ln>
        </p:spPr>
      </p:sp>
      <p:sp>
        <p:nvSpPr>
          <p:cNvPr id="13" name="Shape 11"/>
          <p:cNvSpPr/>
          <p:nvPr/>
        </p:nvSpPr>
        <p:spPr>
          <a:xfrm>
            <a:off x="3246120" y="2651760"/>
            <a:ext cx="2743200" cy="73152"/>
          </a:xfrm>
          <a:prstGeom prst="rect">
            <a:avLst/>
          </a:prstGeom>
          <a:solidFill>
            <a:srgbClr val="1B998B"/>
          </a:solidFill>
          <a:ln w="12700">
            <a:solidFill>
              <a:srgbClr val="1B998B"/>
            </a:solidFill>
            <a:prstDash val="solid"/>
          </a:ln>
        </p:spPr>
      </p:sp>
      <p:sp>
        <p:nvSpPr>
          <p:cNvPr id="14" name="Text 12"/>
          <p:cNvSpPr/>
          <p:nvPr/>
        </p:nvSpPr>
        <p:spPr>
          <a:xfrm>
            <a:off x="3383280" y="2788920"/>
            <a:ext cx="2468880" cy="36576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Product Blind Spots</a:t>
            </a:r>
            <a:endParaRPr lang="en-US" sz="1300" dirty="0"/>
          </a:p>
        </p:txBody>
      </p:sp>
      <p:sp>
        <p:nvSpPr>
          <p:cNvPr id="15" name="Text 13"/>
          <p:cNvSpPr/>
          <p:nvPr/>
        </p:nvSpPr>
        <p:spPr>
          <a:xfrm>
            <a:off x="3383280" y="3200400"/>
            <a:ext cx="2468880" cy="15544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Management lacks clarity on which product lines and models are generating the most value.</a:t>
            </a:r>
            <a:endParaRPr lang="en-US" sz="1100" dirty="0"/>
          </a:p>
        </p:txBody>
      </p:sp>
      <p:sp>
        <p:nvSpPr>
          <p:cNvPr id="16" name="Shape 14"/>
          <p:cNvSpPr/>
          <p:nvPr/>
        </p:nvSpPr>
        <p:spPr>
          <a:xfrm>
            <a:off x="6217920" y="2651760"/>
            <a:ext cx="2743200" cy="2286000"/>
          </a:xfrm>
          <a:prstGeom prst="rect">
            <a:avLst/>
          </a:prstGeom>
          <a:solidFill>
            <a:srgbClr val="F0F4F8"/>
          </a:solidFill>
          <a:ln w="12700">
            <a:solidFill>
              <a:srgbClr val="E2E8F0"/>
            </a:solidFill>
            <a:prstDash val="solid"/>
          </a:ln>
        </p:spPr>
      </p:sp>
      <p:sp>
        <p:nvSpPr>
          <p:cNvPr id="17" name="Shape 15"/>
          <p:cNvSpPr/>
          <p:nvPr/>
        </p:nvSpPr>
        <p:spPr>
          <a:xfrm>
            <a:off x="6217920" y="2651760"/>
            <a:ext cx="2743200" cy="73152"/>
          </a:xfrm>
          <a:prstGeom prst="rect">
            <a:avLst/>
          </a:prstGeom>
          <a:solidFill>
            <a:srgbClr val="1B998B"/>
          </a:solidFill>
          <a:ln w="12700">
            <a:solidFill>
              <a:srgbClr val="1B998B"/>
            </a:solidFill>
            <a:prstDash val="solid"/>
          </a:ln>
        </p:spPr>
      </p:sp>
      <p:sp>
        <p:nvSpPr>
          <p:cNvPr id="18" name="Text 16"/>
          <p:cNvSpPr/>
          <p:nvPr/>
        </p:nvSpPr>
        <p:spPr>
          <a:xfrm>
            <a:off x="6355080" y="2788920"/>
            <a:ext cx="2468880" cy="36576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Sales Timing</a:t>
            </a:r>
            <a:endParaRPr lang="en-US" sz="1300" dirty="0"/>
          </a:p>
        </p:txBody>
      </p:sp>
      <p:sp>
        <p:nvSpPr>
          <p:cNvPr id="19" name="Text 17"/>
          <p:cNvSpPr/>
          <p:nvPr/>
        </p:nvSpPr>
        <p:spPr>
          <a:xfrm>
            <a:off x="6355080" y="3200400"/>
            <a:ext cx="2468880" cy="155448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The effect of day type (WorkDay vs Holiday) on revenue has not been systematically measured.</a:t>
            </a:r>
            <a:endParaRPr lang="en-US" sz="1100" dirty="0"/>
          </a:p>
        </p:txBody>
      </p:sp>
      <p:sp>
        <p:nvSpPr>
          <p:cNvPr id="20" name="Text 18"/>
          <p:cNvSpPr/>
          <p:nvPr/>
        </p:nvSpPr>
        <p:spPr>
          <a:xfrm>
            <a:off x="365760" y="4887016"/>
            <a:ext cx="8412480" cy="274320"/>
          </a:xfrm>
          <a:prstGeom prst="rect">
            <a:avLst/>
          </a:prstGeom>
          <a:noFill/>
          <a:ln/>
        </p:spPr>
        <p:txBody>
          <a:bodyPr wrap="square" lIns="0" tIns="0" rIns="0" bIns="0" rtlCol="0" anchor="ctr"/>
          <a:lstStyle/>
          <a:p>
            <a:pPr marL="0" indent="0">
              <a:buNone/>
            </a:pPr>
            <a:r>
              <a:rPr lang="en-US" sz="1100" i="1" dirty="0">
                <a:solidFill>
                  <a:srgbClr val="718096"/>
                </a:solidFill>
                <a:latin typeface="Calibri" pitchFamily="34" charset="0"/>
                <a:ea typeface="Calibri" pitchFamily="34" charset="-122"/>
                <a:cs typeface="Calibri" pitchFamily="34" charset="-120"/>
              </a:rPr>
              <a:t>This study analysed 35,957 transactions across 6 regions (Jan 2014 – Sep 2015) to address these gaps.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AIM &amp; OBJECTIVES</a:t>
            </a:r>
            <a:endParaRPr lang="en-US" sz="2000" dirty="0"/>
          </a:p>
        </p:txBody>
      </p:sp>
      <p:sp>
        <p:nvSpPr>
          <p:cNvPr id="4" name="Shape 2"/>
          <p:cNvSpPr/>
          <p:nvPr/>
        </p:nvSpPr>
        <p:spPr>
          <a:xfrm>
            <a:off x="274320" y="777240"/>
            <a:ext cx="8595360" cy="822960"/>
          </a:xfrm>
          <a:prstGeom prst="rect">
            <a:avLst/>
          </a:prstGeom>
          <a:solidFill>
            <a:srgbClr val="E1F5EE"/>
          </a:solidFill>
          <a:ln w="12700">
            <a:solidFill>
              <a:srgbClr val="1B998B"/>
            </a:solidFill>
            <a:prstDash val="solid"/>
          </a:ln>
        </p:spPr>
      </p:sp>
      <p:sp>
        <p:nvSpPr>
          <p:cNvPr id="5" name="Text 3"/>
          <p:cNvSpPr/>
          <p:nvPr/>
        </p:nvSpPr>
        <p:spPr>
          <a:xfrm>
            <a:off x="457200" y="822960"/>
            <a:ext cx="914400" cy="320040"/>
          </a:xfrm>
          <a:prstGeom prst="rect">
            <a:avLst/>
          </a:prstGeom>
          <a:noFill/>
          <a:ln/>
        </p:spPr>
        <p:txBody>
          <a:bodyPr wrap="square" lIns="0" tIns="0" rIns="0" bIns="0" rtlCol="0" anchor="ctr"/>
          <a:lstStyle/>
          <a:p>
            <a:pPr marL="0" indent="0">
              <a:buNone/>
            </a:pPr>
            <a:r>
              <a:rPr lang="en-US" sz="1200" b="1" dirty="0">
                <a:solidFill>
                  <a:srgbClr val="1B998B"/>
                </a:solidFill>
                <a:latin typeface="Calibri" pitchFamily="34" charset="0"/>
                <a:ea typeface="Calibri" pitchFamily="34" charset="-122"/>
                <a:cs typeface="Calibri" pitchFamily="34" charset="-120"/>
              </a:rPr>
              <a:t>AIM</a:t>
            </a:r>
            <a:endParaRPr lang="en-US" sz="1200" dirty="0"/>
          </a:p>
        </p:txBody>
      </p:sp>
      <p:sp>
        <p:nvSpPr>
          <p:cNvPr id="6" name="Text 4"/>
          <p:cNvSpPr/>
          <p:nvPr/>
        </p:nvSpPr>
        <p:spPr>
          <a:xfrm>
            <a:off x="1188720" y="822960"/>
            <a:ext cx="7498080" cy="640080"/>
          </a:xfrm>
          <a:prstGeom prst="rect">
            <a:avLst/>
          </a:prstGeom>
          <a:noFill/>
          <a:ln/>
        </p:spPr>
        <p:txBody>
          <a:bodyPr wrap="square" lIns="0" tIns="0" rIns="0" bIns="0" rtlCol="0" anchor="ctr"/>
          <a:lstStyle/>
          <a:p>
            <a:pPr marL="0" indent="0">
              <a:buNone/>
            </a:pPr>
            <a:r>
              <a:rPr lang="en-US" sz="1200" dirty="0">
                <a:solidFill>
                  <a:srgbClr val="085041"/>
                </a:solidFill>
                <a:latin typeface="Calibri" pitchFamily="34" charset="0"/>
                <a:ea typeface="Calibri" pitchFamily="34" charset="-122"/>
                <a:cs typeface="Calibri" pitchFamily="34" charset="-120"/>
              </a:rPr>
              <a:t>To analyse retail sales performance across Nigerian regions to identify revenue patterns, top-performing markets, and key business drivers.</a:t>
            </a:r>
            <a:endParaRPr lang="en-US" sz="1200" dirty="0"/>
          </a:p>
        </p:txBody>
      </p:sp>
      <p:sp>
        <p:nvSpPr>
          <p:cNvPr id="7" name="Text 5"/>
          <p:cNvSpPr/>
          <p:nvPr/>
        </p:nvSpPr>
        <p:spPr>
          <a:xfrm>
            <a:off x="365760" y="1737360"/>
            <a:ext cx="8412480" cy="32004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OBJECTIVES</a:t>
            </a:r>
            <a:endParaRPr lang="en-US" sz="1300" dirty="0"/>
          </a:p>
        </p:txBody>
      </p:sp>
      <p:sp>
        <p:nvSpPr>
          <p:cNvPr id="8" name="Shape 6"/>
          <p:cNvSpPr/>
          <p:nvPr/>
        </p:nvSpPr>
        <p:spPr>
          <a:xfrm>
            <a:off x="274320" y="2148840"/>
            <a:ext cx="4206240" cy="804672"/>
          </a:xfrm>
          <a:prstGeom prst="rect">
            <a:avLst/>
          </a:prstGeom>
          <a:solidFill>
            <a:srgbClr val="F0F4F8"/>
          </a:solidFill>
          <a:ln w="12700">
            <a:solidFill>
              <a:srgbClr val="E2E8F0"/>
            </a:solidFill>
            <a:prstDash val="solid"/>
          </a:ln>
        </p:spPr>
      </p:sp>
      <p:sp>
        <p:nvSpPr>
          <p:cNvPr id="9" name="Shape 7"/>
          <p:cNvSpPr/>
          <p:nvPr/>
        </p:nvSpPr>
        <p:spPr>
          <a:xfrm>
            <a:off x="365760" y="2331720"/>
            <a:ext cx="384048" cy="384048"/>
          </a:xfrm>
          <a:prstGeom prst="ellipse">
            <a:avLst/>
          </a:prstGeom>
          <a:solidFill>
            <a:srgbClr val="1B998B"/>
          </a:solidFill>
          <a:ln w="12700">
            <a:solidFill>
              <a:srgbClr val="1B998B"/>
            </a:solidFill>
            <a:prstDash val="solid"/>
          </a:ln>
        </p:spPr>
      </p:sp>
      <p:sp>
        <p:nvSpPr>
          <p:cNvPr id="10" name="Text 8"/>
          <p:cNvSpPr/>
          <p:nvPr/>
        </p:nvSpPr>
        <p:spPr>
          <a:xfrm>
            <a:off x="365760" y="2331720"/>
            <a:ext cx="384048" cy="384048"/>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11" name="Text 9"/>
          <p:cNvSpPr/>
          <p:nvPr/>
        </p:nvSpPr>
        <p:spPr>
          <a:xfrm>
            <a:off x="868680" y="2221992"/>
            <a:ext cx="3520440" cy="658368"/>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Determine total revenue and units sold across all regions during the study period</a:t>
            </a:r>
            <a:endParaRPr lang="en-US" sz="1100" dirty="0"/>
          </a:p>
        </p:txBody>
      </p:sp>
      <p:sp>
        <p:nvSpPr>
          <p:cNvPr id="12" name="Shape 10"/>
          <p:cNvSpPr/>
          <p:nvPr/>
        </p:nvSpPr>
        <p:spPr>
          <a:xfrm>
            <a:off x="274320" y="3063240"/>
            <a:ext cx="4206240" cy="804672"/>
          </a:xfrm>
          <a:prstGeom prst="rect">
            <a:avLst/>
          </a:prstGeom>
          <a:solidFill>
            <a:srgbClr val="F0F4F8"/>
          </a:solidFill>
          <a:ln w="12700">
            <a:solidFill>
              <a:srgbClr val="E2E8F0"/>
            </a:solidFill>
            <a:prstDash val="solid"/>
          </a:ln>
        </p:spPr>
      </p:sp>
      <p:sp>
        <p:nvSpPr>
          <p:cNvPr id="13" name="Shape 11"/>
          <p:cNvSpPr/>
          <p:nvPr/>
        </p:nvSpPr>
        <p:spPr>
          <a:xfrm>
            <a:off x="365760" y="3246120"/>
            <a:ext cx="384048" cy="384048"/>
          </a:xfrm>
          <a:prstGeom prst="ellipse">
            <a:avLst/>
          </a:prstGeom>
          <a:solidFill>
            <a:srgbClr val="1B998B"/>
          </a:solidFill>
          <a:ln w="12700">
            <a:solidFill>
              <a:srgbClr val="1B998B"/>
            </a:solidFill>
            <a:prstDash val="solid"/>
          </a:ln>
        </p:spPr>
      </p:sp>
      <p:sp>
        <p:nvSpPr>
          <p:cNvPr id="14" name="Text 12"/>
          <p:cNvSpPr/>
          <p:nvPr/>
        </p:nvSpPr>
        <p:spPr>
          <a:xfrm>
            <a:off x="365760" y="3246120"/>
            <a:ext cx="384048" cy="384048"/>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15" name="Text 13"/>
          <p:cNvSpPr/>
          <p:nvPr/>
        </p:nvSpPr>
        <p:spPr>
          <a:xfrm>
            <a:off x="868680" y="3136392"/>
            <a:ext cx="3520440" cy="658368"/>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Identify the highest and lowest performing regions by revenue contribution</a:t>
            </a:r>
            <a:endParaRPr lang="en-US" sz="1100" dirty="0"/>
          </a:p>
        </p:txBody>
      </p:sp>
      <p:sp>
        <p:nvSpPr>
          <p:cNvPr id="16" name="Shape 14"/>
          <p:cNvSpPr/>
          <p:nvPr/>
        </p:nvSpPr>
        <p:spPr>
          <a:xfrm>
            <a:off x="274320" y="3977640"/>
            <a:ext cx="4206240" cy="804672"/>
          </a:xfrm>
          <a:prstGeom prst="rect">
            <a:avLst/>
          </a:prstGeom>
          <a:solidFill>
            <a:srgbClr val="F0F4F8"/>
          </a:solidFill>
          <a:ln w="12700">
            <a:solidFill>
              <a:srgbClr val="E2E8F0"/>
            </a:solidFill>
            <a:prstDash val="solid"/>
          </a:ln>
        </p:spPr>
      </p:sp>
      <p:sp>
        <p:nvSpPr>
          <p:cNvPr id="17" name="Shape 15"/>
          <p:cNvSpPr/>
          <p:nvPr/>
        </p:nvSpPr>
        <p:spPr>
          <a:xfrm>
            <a:off x="365760" y="4160520"/>
            <a:ext cx="384048" cy="384048"/>
          </a:xfrm>
          <a:prstGeom prst="ellipse">
            <a:avLst/>
          </a:prstGeom>
          <a:solidFill>
            <a:srgbClr val="1B998B"/>
          </a:solidFill>
          <a:ln w="12700">
            <a:solidFill>
              <a:srgbClr val="1B998B"/>
            </a:solidFill>
            <a:prstDash val="solid"/>
          </a:ln>
        </p:spPr>
      </p:sp>
      <p:sp>
        <p:nvSpPr>
          <p:cNvPr id="18" name="Text 16"/>
          <p:cNvSpPr/>
          <p:nvPr/>
        </p:nvSpPr>
        <p:spPr>
          <a:xfrm>
            <a:off x="365760" y="4160520"/>
            <a:ext cx="384048" cy="384048"/>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868680" y="4050792"/>
            <a:ext cx="3520440" cy="658368"/>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Analyse the impact of different lines of business on overall revenue generation</a:t>
            </a:r>
            <a:endParaRPr lang="en-US" sz="1100" dirty="0"/>
          </a:p>
        </p:txBody>
      </p:sp>
      <p:sp>
        <p:nvSpPr>
          <p:cNvPr id="20" name="Shape 18"/>
          <p:cNvSpPr/>
          <p:nvPr/>
        </p:nvSpPr>
        <p:spPr>
          <a:xfrm>
            <a:off x="4709160" y="2148840"/>
            <a:ext cx="4206240" cy="804672"/>
          </a:xfrm>
          <a:prstGeom prst="rect">
            <a:avLst/>
          </a:prstGeom>
          <a:solidFill>
            <a:srgbClr val="F0F4F8"/>
          </a:solidFill>
          <a:ln w="12700">
            <a:solidFill>
              <a:srgbClr val="E2E8F0"/>
            </a:solidFill>
            <a:prstDash val="solid"/>
          </a:ln>
        </p:spPr>
      </p:sp>
      <p:sp>
        <p:nvSpPr>
          <p:cNvPr id="21" name="Shape 19"/>
          <p:cNvSpPr/>
          <p:nvPr/>
        </p:nvSpPr>
        <p:spPr>
          <a:xfrm>
            <a:off x="4800600" y="2331720"/>
            <a:ext cx="384048" cy="384048"/>
          </a:xfrm>
          <a:prstGeom prst="ellipse">
            <a:avLst/>
          </a:prstGeom>
          <a:solidFill>
            <a:srgbClr val="1B998B"/>
          </a:solidFill>
          <a:ln w="12700">
            <a:solidFill>
              <a:srgbClr val="1B998B"/>
            </a:solidFill>
            <a:prstDash val="solid"/>
          </a:ln>
        </p:spPr>
      </p:sp>
      <p:sp>
        <p:nvSpPr>
          <p:cNvPr id="22" name="Text 20"/>
          <p:cNvSpPr/>
          <p:nvPr/>
        </p:nvSpPr>
        <p:spPr>
          <a:xfrm>
            <a:off x="4800600" y="2331720"/>
            <a:ext cx="384048" cy="384048"/>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23" name="Text 21"/>
          <p:cNvSpPr/>
          <p:nvPr/>
        </p:nvSpPr>
        <p:spPr>
          <a:xfrm>
            <a:off x="5303520" y="2221992"/>
            <a:ext cx="3520440" cy="658368"/>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Examine how day category (WorkDay, Public Holiday etc.) influences sales performance</a:t>
            </a:r>
            <a:endParaRPr lang="en-US" sz="1100" dirty="0"/>
          </a:p>
        </p:txBody>
      </p:sp>
      <p:sp>
        <p:nvSpPr>
          <p:cNvPr id="24" name="Shape 22"/>
          <p:cNvSpPr/>
          <p:nvPr/>
        </p:nvSpPr>
        <p:spPr>
          <a:xfrm>
            <a:off x="4709160" y="3063240"/>
            <a:ext cx="4206240" cy="804672"/>
          </a:xfrm>
          <a:prstGeom prst="rect">
            <a:avLst/>
          </a:prstGeom>
          <a:solidFill>
            <a:srgbClr val="F0F4F8"/>
          </a:solidFill>
          <a:ln w="12700">
            <a:solidFill>
              <a:srgbClr val="E2E8F0"/>
            </a:solidFill>
            <a:prstDash val="solid"/>
          </a:ln>
        </p:spPr>
      </p:sp>
      <p:sp>
        <p:nvSpPr>
          <p:cNvPr id="25" name="Shape 23"/>
          <p:cNvSpPr/>
          <p:nvPr/>
        </p:nvSpPr>
        <p:spPr>
          <a:xfrm>
            <a:off x="4800600" y="3246120"/>
            <a:ext cx="384048" cy="384048"/>
          </a:xfrm>
          <a:prstGeom prst="ellipse">
            <a:avLst/>
          </a:prstGeom>
          <a:solidFill>
            <a:srgbClr val="1B998B"/>
          </a:solidFill>
          <a:ln w="12700">
            <a:solidFill>
              <a:srgbClr val="1B998B"/>
            </a:solidFill>
            <a:prstDash val="solid"/>
          </a:ln>
        </p:spPr>
      </p:sp>
      <p:sp>
        <p:nvSpPr>
          <p:cNvPr id="26" name="Text 24"/>
          <p:cNvSpPr/>
          <p:nvPr/>
        </p:nvSpPr>
        <p:spPr>
          <a:xfrm>
            <a:off x="4800600" y="3246120"/>
            <a:ext cx="384048" cy="384048"/>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27" name="Text 25"/>
          <p:cNvSpPr/>
          <p:nvPr/>
        </p:nvSpPr>
        <p:spPr>
          <a:xfrm>
            <a:off x="5303520" y="3136392"/>
            <a:ext cx="3520440" cy="658368"/>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Identify top performing markets, stores, and product models by revenue</a:t>
            </a:r>
            <a:endParaRPr lang="en-US" sz="1100" dirty="0"/>
          </a:p>
        </p:txBody>
      </p:sp>
      <p:sp>
        <p:nvSpPr>
          <p:cNvPr id="30" name="Text 28"/>
          <p:cNvSpPr/>
          <p:nvPr/>
        </p:nvSpPr>
        <p:spPr>
          <a:xfrm>
            <a:off x="4800600" y="4160520"/>
            <a:ext cx="384048" cy="384048"/>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31" name="Text 29"/>
          <p:cNvSpPr/>
          <p:nvPr/>
        </p:nvSpPr>
        <p:spPr>
          <a:xfrm>
            <a:off x="5303520" y="4050792"/>
            <a:ext cx="3520440" cy="658368"/>
          </a:xfrm>
          <a:prstGeom prst="rect">
            <a:avLst/>
          </a:prstGeom>
          <a:noFill/>
          <a:ln/>
        </p:spPr>
        <p:txBody>
          <a:bodyPr wrap="square" lIns="0" tIns="0" rIns="0" bIns="0" rtlCol="0" anchor="ctr"/>
          <a:lstStyle/>
          <a:p>
            <a:pPr marL="0" indent="0">
              <a:buNone/>
            </a:pPr>
            <a:endParaRPr lang="en-US" sz="1100" dirty="0"/>
          </a:p>
        </p:txBody>
      </p:sp>
      <p:sp>
        <p:nvSpPr>
          <p:cNvPr id="32" name="Shape 26">
            <a:extLst>
              <a:ext uri="{FF2B5EF4-FFF2-40B4-BE49-F238E27FC236}">
                <a16:creationId xmlns:a16="http://schemas.microsoft.com/office/drawing/2014/main" id="{079BE673-6C95-425F-AE9B-3A7FDE9FDA39}"/>
              </a:ext>
            </a:extLst>
          </p:cNvPr>
          <p:cNvSpPr/>
          <p:nvPr/>
        </p:nvSpPr>
        <p:spPr>
          <a:xfrm>
            <a:off x="4730934" y="3989367"/>
            <a:ext cx="4206240" cy="804672"/>
          </a:xfrm>
          <a:prstGeom prst="rect">
            <a:avLst/>
          </a:prstGeom>
          <a:solidFill>
            <a:srgbClr val="F0F4F8"/>
          </a:solidFill>
          <a:ln w="12700">
            <a:solidFill>
              <a:srgbClr val="E2E8F0"/>
            </a:solidFill>
            <a:prstDash val="solid"/>
          </a:ln>
        </p:spPr>
      </p:sp>
      <p:sp>
        <p:nvSpPr>
          <p:cNvPr id="33" name="Shape 27">
            <a:extLst>
              <a:ext uri="{FF2B5EF4-FFF2-40B4-BE49-F238E27FC236}">
                <a16:creationId xmlns:a16="http://schemas.microsoft.com/office/drawing/2014/main" id="{CD176CCB-93B2-4EA6-A46F-92A14ECCE6BF}"/>
              </a:ext>
            </a:extLst>
          </p:cNvPr>
          <p:cNvSpPr/>
          <p:nvPr/>
        </p:nvSpPr>
        <p:spPr>
          <a:xfrm>
            <a:off x="4822374" y="4172247"/>
            <a:ext cx="384048" cy="384048"/>
          </a:xfrm>
          <a:prstGeom prst="ellipse">
            <a:avLst/>
          </a:prstGeom>
          <a:solidFill>
            <a:srgbClr val="1B998B"/>
          </a:solidFill>
          <a:ln w="12700">
            <a:solidFill>
              <a:srgbClr val="1B998B"/>
            </a:solidFill>
            <a:prstDash val="solid"/>
          </a:ln>
        </p:spPr>
      </p:sp>
      <p:sp>
        <p:nvSpPr>
          <p:cNvPr id="34" name="Text 28">
            <a:extLst>
              <a:ext uri="{FF2B5EF4-FFF2-40B4-BE49-F238E27FC236}">
                <a16:creationId xmlns:a16="http://schemas.microsoft.com/office/drawing/2014/main" id="{D188F2DC-EC74-4CA2-84ED-5D94788E50D5}"/>
              </a:ext>
            </a:extLst>
          </p:cNvPr>
          <p:cNvSpPr/>
          <p:nvPr/>
        </p:nvSpPr>
        <p:spPr>
          <a:xfrm>
            <a:off x="4822374" y="4172247"/>
            <a:ext cx="384048" cy="384048"/>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35" name="Text 29">
            <a:extLst>
              <a:ext uri="{FF2B5EF4-FFF2-40B4-BE49-F238E27FC236}">
                <a16:creationId xmlns:a16="http://schemas.microsoft.com/office/drawing/2014/main" id="{2661B57B-4B48-4C45-95DA-81B281668116}"/>
              </a:ext>
            </a:extLst>
          </p:cNvPr>
          <p:cNvSpPr/>
          <p:nvPr/>
        </p:nvSpPr>
        <p:spPr>
          <a:xfrm>
            <a:off x="5325294" y="4062519"/>
            <a:ext cx="3520440" cy="658368"/>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Track monthly revenue trends to identify patterns over the study period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KEY PERFORMANCE INDICATORS</a:t>
            </a:r>
            <a:endParaRPr lang="en-US" sz="2000" dirty="0"/>
          </a:p>
        </p:txBody>
      </p:sp>
      <p:sp>
        <p:nvSpPr>
          <p:cNvPr id="4" name="Shape 2"/>
          <p:cNvSpPr/>
          <p:nvPr/>
        </p:nvSpPr>
        <p:spPr>
          <a:xfrm>
            <a:off x="274320" y="868680"/>
            <a:ext cx="4114800" cy="1828800"/>
          </a:xfrm>
          <a:prstGeom prst="rect">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274320" y="868680"/>
            <a:ext cx="91440" cy="1828800"/>
          </a:xfrm>
          <a:prstGeom prst="rect">
            <a:avLst/>
          </a:prstGeom>
          <a:solidFill>
            <a:srgbClr val="1B998B"/>
          </a:solidFill>
          <a:ln w="12700">
            <a:solidFill>
              <a:srgbClr val="1B998B"/>
            </a:solidFill>
            <a:prstDash val="solid"/>
          </a:ln>
        </p:spPr>
      </p:sp>
      <p:sp>
        <p:nvSpPr>
          <p:cNvPr id="6" name="Text 4"/>
          <p:cNvSpPr/>
          <p:nvPr/>
        </p:nvSpPr>
        <p:spPr>
          <a:xfrm>
            <a:off x="457200" y="1051560"/>
            <a:ext cx="3749040" cy="822960"/>
          </a:xfrm>
          <a:prstGeom prst="rect">
            <a:avLst/>
          </a:prstGeom>
          <a:noFill/>
          <a:ln/>
        </p:spPr>
        <p:txBody>
          <a:bodyPr wrap="square" lIns="0" tIns="0" rIns="0" bIns="0" rtlCol="0" anchor="ctr"/>
          <a:lstStyle/>
          <a:p>
            <a:pPr marL="0" indent="0">
              <a:buNone/>
            </a:pPr>
            <a:r>
              <a:rPr lang="en-US" sz="3200" b="1" dirty="0">
                <a:solidFill>
                  <a:srgbClr val="1B998B"/>
                </a:solidFill>
                <a:latin typeface="Calibri" pitchFamily="34" charset="0"/>
                <a:ea typeface="Calibri" pitchFamily="34" charset="-122"/>
                <a:cs typeface="Calibri" pitchFamily="34" charset="-120"/>
              </a:rPr>
              <a:t>₦85.13B</a:t>
            </a:r>
            <a:endParaRPr lang="en-US" sz="3200" dirty="0"/>
          </a:p>
        </p:txBody>
      </p:sp>
      <p:sp>
        <p:nvSpPr>
          <p:cNvPr id="7" name="Text 5"/>
          <p:cNvSpPr/>
          <p:nvPr/>
        </p:nvSpPr>
        <p:spPr>
          <a:xfrm>
            <a:off x="457200" y="1783080"/>
            <a:ext cx="3749040" cy="411480"/>
          </a:xfrm>
          <a:prstGeom prst="rect">
            <a:avLst/>
          </a:prstGeom>
          <a:noFill/>
          <a:ln/>
        </p:spPr>
        <p:txBody>
          <a:bodyPr wrap="square" lIns="0" tIns="0" rIns="0" bIns="0"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Total Revenue Generated</a:t>
            </a:r>
            <a:endParaRPr lang="en-US" sz="1300" dirty="0"/>
          </a:p>
        </p:txBody>
      </p:sp>
      <p:sp>
        <p:nvSpPr>
          <p:cNvPr id="8" name="Text 6"/>
          <p:cNvSpPr/>
          <p:nvPr/>
        </p:nvSpPr>
        <p:spPr>
          <a:xfrm>
            <a:off x="457200" y="2194560"/>
            <a:ext cx="3749040" cy="32004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Across all regions &amp; stores</a:t>
            </a:r>
            <a:endParaRPr lang="en-US" sz="1100" dirty="0"/>
          </a:p>
        </p:txBody>
      </p:sp>
      <p:sp>
        <p:nvSpPr>
          <p:cNvPr id="9" name="Shape 7"/>
          <p:cNvSpPr/>
          <p:nvPr/>
        </p:nvSpPr>
        <p:spPr>
          <a:xfrm>
            <a:off x="4754880" y="868680"/>
            <a:ext cx="4114800" cy="1828800"/>
          </a:xfrm>
          <a:prstGeom prst="rect">
            <a:avLst/>
          </a:prstGeom>
          <a:solidFill>
            <a:srgbClr val="FFFFFF"/>
          </a:solidFill>
          <a:ln/>
          <a:effectLst>
            <a:outerShdw blurRad="101600" dist="25400" dir="8100000" algn="bl" rotWithShape="0">
              <a:srgbClr val="000000">
                <a:alpha val="10000"/>
              </a:srgbClr>
            </a:outerShdw>
          </a:effectLst>
        </p:spPr>
      </p:sp>
      <p:sp>
        <p:nvSpPr>
          <p:cNvPr id="10" name="Shape 8"/>
          <p:cNvSpPr/>
          <p:nvPr/>
        </p:nvSpPr>
        <p:spPr>
          <a:xfrm>
            <a:off x="4754880" y="868680"/>
            <a:ext cx="91440" cy="1828800"/>
          </a:xfrm>
          <a:prstGeom prst="rect">
            <a:avLst/>
          </a:prstGeom>
          <a:solidFill>
            <a:srgbClr val="0D1B2A"/>
          </a:solidFill>
          <a:ln w="12700">
            <a:solidFill>
              <a:srgbClr val="0D1B2A"/>
            </a:solidFill>
            <a:prstDash val="solid"/>
          </a:ln>
        </p:spPr>
      </p:sp>
      <p:sp>
        <p:nvSpPr>
          <p:cNvPr id="11" name="Text 9"/>
          <p:cNvSpPr/>
          <p:nvPr/>
        </p:nvSpPr>
        <p:spPr>
          <a:xfrm>
            <a:off x="4937760" y="1051560"/>
            <a:ext cx="3749040" cy="822960"/>
          </a:xfrm>
          <a:prstGeom prst="rect">
            <a:avLst/>
          </a:prstGeom>
          <a:noFill/>
          <a:ln/>
        </p:spPr>
        <p:txBody>
          <a:bodyPr wrap="square" lIns="0" tIns="0" rIns="0" bIns="0" rtlCol="0" anchor="ctr"/>
          <a:lstStyle/>
          <a:p>
            <a:pPr marL="0" indent="0">
              <a:buNone/>
            </a:pPr>
            <a:r>
              <a:rPr lang="en-US" sz="3200" b="1" dirty="0">
                <a:solidFill>
                  <a:srgbClr val="0D1B2A"/>
                </a:solidFill>
                <a:latin typeface="Calibri" pitchFamily="34" charset="0"/>
                <a:ea typeface="Calibri" pitchFamily="34" charset="-122"/>
                <a:cs typeface="Calibri" pitchFamily="34" charset="-120"/>
              </a:rPr>
              <a:t>917,211</a:t>
            </a:r>
            <a:endParaRPr lang="en-US" sz="3200" dirty="0"/>
          </a:p>
        </p:txBody>
      </p:sp>
      <p:sp>
        <p:nvSpPr>
          <p:cNvPr id="12" name="Text 10"/>
          <p:cNvSpPr/>
          <p:nvPr/>
        </p:nvSpPr>
        <p:spPr>
          <a:xfrm>
            <a:off x="4937760" y="1783080"/>
            <a:ext cx="3749040" cy="411480"/>
          </a:xfrm>
          <a:prstGeom prst="rect">
            <a:avLst/>
          </a:prstGeom>
          <a:noFill/>
          <a:ln/>
        </p:spPr>
        <p:txBody>
          <a:bodyPr wrap="square" lIns="0" tIns="0" rIns="0" bIns="0"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Total Units Sold</a:t>
            </a:r>
            <a:endParaRPr lang="en-US" sz="1300" dirty="0"/>
          </a:p>
        </p:txBody>
      </p:sp>
      <p:sp>
        <p:nvSpPr>
          <p:cNvPr id="13" name="Text 11"/>
          <p:cNvSpPr/>
          <p:nvPr/>
        </p:nvSpPr>
        <p:spPr>
          <a:xfrm>
            <a:off x="4937760" y="2194560"/>
            <a:ext cx="3749040" cy="32004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Across all product lines</a:t>
            </a:r>
            <a:endParaRPr lang="en-US" sz="1100" dirty="0"/>
          </a:p>
        </p:txBody>
      </p:sp>
      <p:sp>
        <p:nvSpPr>
          <p:cNvPr id="14" name="Shape 12"/>
          <p:cNvSpPr/>
          <p:nvPr/>
        </p:nvSpPr>
        <p:spPr>
          <a:xfrm>
            <a:off x="274320" y="2880360"/>
            <a:ext cx="4114800" cy="1828800"/>
          </a:xfrm>
          <a:prstGeom prst="rect">
            <a:avLst/>
          </a:prstGeom>
          <a:solidFill>
            <a:srgbClr val="FFFFFF"/>
          </a:solidFill>
          <a:ln/>
          <a:effectLst>
            <a:outerShdw blurRad="101600" dist="25400" dir="8100000" algn="bl" rotWithShape="0">
              <a:srgbClr val="000000">
                <a:alpha val="10000"/>
              </a:srgbClr>
            </a:outerShdw>
          </a:effectLst>
        </p:spPr>
      </p:sp>
      <p:sp>
        <p:nvSpPr>
          <p:cNvPr id="15" name="Shape 13"/>
          <p:cNvSpPr/>
          <p:nvPr/>
        </p:nvSpPr>
        <p:spPr>
          <a:xfrm>
            <a:off x="274320" y="2880360"/>
            <a:ext cx="91440" cy="1828800"/>
          </a:xfrm>
          <a:prstGeom prst="rect">
            <a:avLst/>
          </a:prstGeom>
          <a:solidFill>
            <a:srgbClr val="FF6B35"/>
          </a:solidFill>
          <a:ln w="12700">
            <a:solidFill>
              <a:srgbClr val="FF6B35"/>
            </a:solidFill>
            <a:prstDash val="solid"/>
          </a:ln>
        </p:spPr>
      </p:sp>
      <p:sp>
        <p:nvSpPr>
          <p:cNvPr id="16" name="Text 14"/>
          <p:cNvSpPr/>
          <p:nvPr/>
        </p:nvSpPr>
        <p:spPr>
          <a:xfrm>
            <a:off x="457200" y="3063240"/>
            <a:ext cx="3749040" cy="822960"/>
          </a:xfrm>
          <a:prstGeom prst="rect">
            <a:avLst/>
          </a:prstGeom>
          <a:noFill/>
          <a:ln/>
        </p:spPr>
        <p:txBody>
          <a:bodyPr wrap="square" lIns="0" tIns="0" rIns="0" bIns="0" rtlCol="0" anchor="ctr"/>
          <a:lstStyle/>
          <a:p>
            <a:pPr marL="0" indent="0">
              <a:buNone/>
            </a:pPr>
            <a:r>
              <a:rPr lang="en-US" sz="3200" b="1" dirty="0">
                <a:solidFill>
                  <a:srgbClr val="FF6B35"/>
                </a:solidFill>
                <a:latin typeface="Calibri" pitchFamily="34" charset="0"/>
                <a:ea typeface="Calibri" pitchFamily="34" charset="-122"/>
                <a:cs typeface="Calibri" pitchFamily="34" charset="-120"/>
              </a:rPr>
              <a:t>₦2.37M</a:t>
            </a:r>
            <a:endParaRPr lang="en-US" sz="3200" dirty="0"/>
          </a:p>
        </p:txBody>
      </p:sp>
      <p:sp>
        <p:nvSpPr>
          <p:cNvPr id="17" name="Text 15"/>
          <p:cNvSpPr/>
          <p:nvPr/>
        </p:nvSpPr>
        <p:spPr>
          <a:xfrm>
            <a:off x="457200" y="3794760"/>
            <a:ext cx="3749040" cy="411480"/>
          </a:xfrm>
          <a:prstGeom prst="rect">
            <a:avLst/>
          </a:prstGeom>
          <a:noFill/>
          <a:ln/>
        </p:spPr>
        <p:txBody>
          <a:bodyPr wrap="square" lIns="0" tIns="0" rIns="0" bIns="0" rtlCol="0" anchor="ctr"/>
          <a:lstStyle/>
          <a:p>
            <a:pPr marL="0" indent="0">
              <a:buNone/>
            </a:pPr>
            <a:r>
              <a:rPr lang="en-US" sz="1300" b="1" dirty="0">
                <a:solidFill>
                  <a:srgbClr val="1A202C"/>
                </a:solidFill>
                <a:latin typeface="Calibri" pitchFamily="34" charset="0"/>
                <a:ea typeface="Calibri" pitchFamily="34" charset="-122"/>
                <a:cs typeface="Calibri" pitchFamily="34" charset="-120"/>
              </a:rPr>
              <a:t>Avg Revenue per Transaction</a:t>
            </a:r>
            <a:endParaRPr lang="en-US" sz="1300" dirty="0"/>
          </a:p>
        </p:txBody>
      </p:sp>
      <p:sp>
        <p:nvSpPr>
          <p:cNvPr id="18" name="Text 16"/>
          <p:cNvSpPr/>
          <p:nvPr/>
        </p:nvSpPr>
        <p:spPr>
          <a:xfrm>
            <a:off x="457200" y="4206240"/>
            <a:ext cx="3749040" cy="32004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Based on 35,957 transactions</a:t>
            </a:r>
            <a:endParaRPr lang="en-US" sz="1100" dirty="0"/>
          </a:p>
        </p:txBody>
      </p:sp>
      <p:sp>
        <p:nvSpPr>
          <p:cNvPr id="19" name="Shape 17"/>
          <p:cNvSpPr/>
          <p:nvPr/>
        </p:nvSpPr>
        <p:spPr>
          <a:xfrm>
            <a:off x="4757392" y="2897944"/>
            <a:ext cx="4114800" cy="182880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dirty="0"/>
          </a:p>
        </p:txBody>
      </p:sp>
      <p:sp>
        <p:nvSpPr>
          <p:cNvPr id="20" name="Shape 18"/>
          <p:cNvSpPr/>
          <p:nvPr/>
        </p:nvSpPr>
        <p:spPr>
          <a:xfrm>
            <a:off x="4754880" y="2880360"/>
            <a:ext cx="91440" cy="1828800"/>
          </a:xfrm>
          <a:prstGeom prst="rect">
            <a:avLst/>
          </a:prstGeom>
          <a:solidFill>
            <a:srgbClr val="1B4F72"/>
          </a:solidFill>
          <a:ln w="12700">
            <a:solidFill>
              <a:srgbClr val="1B4F72"/>
            </a:solidFill>
            <a:prstDash val="solid"/>
          </a:ln>
        </p:spPr>
      </p:sp>
      <p:sp>
        <p:nvSpPr>
          <p:cNvPr id="21" name="Text 19"/>
          <p:cNvSpPr/>
          <p:nvPr/>
        </p:nvSpPr>
        <p:spPr>
          <a:xfrm>
            <a:off x="4943534" y="3647468"/>
            <a:ext cx="1113021" cy="627352"/>
          </a:xfrm>
          <a:prstGeom prst="rect">
            <a:avLst/>
          </a:prstGeom>
          <a:noFill/>
          <a:ln/>
        </p:spPr>
        <p:txBody>
          <a:bodyPr wrap="square" lIns="0" tIns="0" rIns="0" bIns="0" rtlCol="0" anchor="ctr"/>
          <a:lstStyle/>
          <a:p>
            <a:pPr marL="0" indent="0">
              <a:buNone/>
            </a:pPr>
            <a:r>
              <a:rPr lang="en-US" b="1" dirty="0">
                <a:solidFill>
                  <a:srgbClr val="1B4F72"/>
                </a:solidFill>
                <a:latin typeface="Calibri" pitchFamily="34" charset="0"/>
                <a:ea typeface="Calibri" pitchFamily="34" charset="-122"/>
                <a:cs typeface="Calibri" pitchFamily="34" charset="-120"/>
              </a:rPr>
              <a:t>North East</a:t>
            </a:r>
            <a:endParaRPr lang="en-US" dirty="0"/>
          </a:p>
        </p:txBody>
      </p:sp>
      <p:sp>
        <p:nvSpPr>
          <p:cNvPr id="22" name="Text 20"/>
          <p:cNvSpPr/>
          <p:nvPr/>
        </p:nvSpPr>
        <p:spPr>
          <a:xfrm>
            <a:off x="4937760" y="4160520"/>
            <a:ext cx="1643910" cy="411480"/>
          </a:xfrm>
          <a:prstGeom prst="rect">
            <a:avLst/>
          </a:prstGeom>
          <a:noFill/>
          <a:ln/>
        </p:spPr>
        <p:txBody>
          <a:bodyPr wrap="square" lIns="0" tIns="0" rIns="0" bIns="0" rtlCol="0" anchor="ctr"/>
          <a:lstStyle/>
          <a:p>
            <a:pPr marL="0" indent="0">
              <a:buNone/>
            </a:pPr>
            <a:r>
              <a:rPr lang="en-US" sz="1100" dirty="0">
                <a:solidFill>
                  <a:schemeClr val="bg1">
                    <a:lumMod val="50000"/>
                  </a:schemeClr>
                </a:solidFill>
                <a:latin typeface="Calibri" pitchFamily="34" charset="0"/>
                <a:ea typeface="Calibri" pitchFamily="34" charset="-122"/>
                <a:cs typeface="Calibri" pitchFamily="34" charset="-120"/>
              </a:rPr>
              <a:t>Top Performing Region</a:t>
            </a:r>
            <a:endParaRPr lang="en-US" sz="1100" dirty="0">
              <a:solidFill>
                <a:schemeClr val="bg1">
                  <a:lumMod val="50000"/>
                </a:schemeClr>
              </a:solidFill>
            </a:endParaRPr>
          </a:p>
        </p:txBody>
      </p:sp>
      <p:sp>
        <p:nvSpPr>
          <p:cNvPr id="23" name="Text 21"/>
          <p:cNvSpPr/>
          <p:nvPr/>
        </p:nvSpPr>
        <p:spPr>
          <a:xfrm>
            <a:off x="4937759" y="3261360"/>
            <a:ext cx="1432895" cy="411480"/>
          </a:xfrm>
          <a:prstGeom prst="rect">
            <a:avLst/>
          </a:prstGeom>
          <a:noFill/>
          <a:ln/>
        </p:spPr>
        <p:txBody>
          <a:bodyPr wrap="square" lIns="0" tIns="0" rIns="0" bIns="0" rtlCol="0" anchor="ctr"/>
          <a:lstStyle/>
          <a:p>
            <a:pPr marL="0" indent="0">
              <a:buNone/>
            </a:pPr>
            <a:r>
              <a:rPr lang="en-US" sz="3200" dirty="0">
                <a:solidFill>
                  <a:srgbClr val="002060"/>
                </a:solidFill>
                <a:latin typeface="Calibri" pitchFamily="34" charset="0"/>
                <a:ea typeface="Calibri" pitchFamily="34" charset="-122"/>
                <a:cs typeface="Calibri" pitchFamily="34" charset="-120"/>
              </a:rPr>
              <a:t>₦</a:t>
            </a:r>
            <a:r>
              <a:rPr lang="en-US" sz="3200" b="1" dirty="0">
                <a:solidFill>
                  <a:srgbClr val="002060"/>
                </a:solidFill>
                <a:latin typeface="Calibri" pitchFamily="34" charset="0"/>
                <a:ea typeface="Calibri" pitchFamily="34" charset="-122"/>
                <a:cs typeface="Calibri" pitchFamily="34" charset="-120"/>
              </a:rPr>
              <a:t>21.69B</a:t>
            </a:r>
            <a:r>
              <a:rPr lang="en-US" sz="1100" dirty="0">
                <a:solidFill>
                  <a:srgbClr val="002060"/>
                </a:solidFill>
                <a:latin typeface="Calibri" pitchFamily="34" charset="0"/>
                <a:ea typeface="Calibri" pitchFamily="34" charset="-122"/>
                <a:cs typeface="Calibri" pitchFamily="34" charset="-120"/>
              </a:rPr>
              <a:t> </a:t>
            </a:r>
            <a:endParaRPr lang="en-US" sz="1100" dirty="0">
              <a:solidFill>
                <a:srgbClr val="002060"/>
              </a:solidFill>
            </a:endParaRPr>
          </a:p>
        </p:txBody>
      </p:sp>
      <p:sp>
        <p:nvSpPr>
          <p:cNvPr id="24" name="Text 21">
            <a:extLst>
              <a:ext uri="{FF2B5EF4-FFF2-40B4-BE49-F238E27FC236}">
                <a16:creationId xmlns:a16="http://schemas.microsoft.com/office/drawing/2014/main" id="{C887673C-C215-4E36-9896-7AF7C66CCD80}"/>
              </a:ext>
            </a:extLst>
          </p:cNvPr>
          <p:cNvSpPr/>
          <p:nvPr/>
        </p:nvSpPr>
        <p:spPr>
          <a:xfrm>
            <a:off x="6391585" y="3358662"/>
            <a:ext cx="944546" cy="320040"/>
          </a:xfrm>
          <a:prstGeom prst="rect">
            <a:avLst/>
          </a:prstGeom>
          <a:noFill/>
          <a:ln/>
        </p:spPr>
        <p:txBody>
          <a:bodyPr wrap="square" lIns="0" tIns="0" rIns="0" bIns="0" rtlCol="0" anchor="ctr"/>
          <a:lstStyle/>
          <a:p>
            <a:pPr marL="0" indent="0">
              <a:buNone/>
            </a:pPr>
            <a:endParaRPr lang="en-US" sz="1200" dirty="0">
              <a:solidFill>
                <a:srgbClr val="002060"/>
              </a:solidFill>
            </a:endParaRPr>
          </a:p>
        </p:txBody>
      </p:sp>
      <p:sp>
        <p:nvSpPr>
          <p:cNvPr id="200" name="RecBg_200"/>
          <p:cNvSpPr/>
          <p:nvPr/>
        </p:nvSpPr>
        <p:spPr>
          <a:xfrm>
            <a:off x="0" y="4481640"/>
            <a:ext cx="9144000" cy="594000"/>
          </a:xfrm>
          <a:prstGeom prst="rect">
            <a:avLst/>
          </a:prstGeom>
          <a:solidFill>
            <a:srgbClr val="0D2137"/>
          </a:solidFill>
          <a:ln>
            <a:noFill/>
          </a:ln>
        </p:spPr>
      </p:sp>
      <p:sp>
        <p:nvSpPr>
          <p:cNvPr id="201" name="RecLabel_201"/>
          <p:cNvSpPr/>
          <p:nvPr/>
        </p:nvSpPr>
        <p:spPr>
          <a:xfrm>
            <a:off x="13820" y="4499640"/>
            <a:ext cx="1828800" cy="558000"/>
          </a:xfrm>
          <a:prstGeom prst="rect">
            <a:avLst/>
          </a:prstGeom>
          <a:solidFill>
            <a:srgbClr val="028090"/>
          </a:solidFill>
          <a:ln>
            <a:noFill/>
          </a:ln>
        </p:spPr>
        <p:txBody>
          <a:bodyPr wrap="square" lIns="91440" tIns="45720" rIns="91440" bIns="45720" rtlCol="0" anchor="ctr"/>
          <a:lstStyle/>
          <a:p>
            <a:pPr marL="0" indent="0">
              <a:buNone/>
            </a:pPr>
            <a:r>
              <a:rPr lang="en-US" sz="900" b="1" dirty="0">
                <a:solidFill>
                  <a:srgbClr val="FFFFFF"/>
                </a:solidFill>
                <a:latin typeface="Calibri" pitchFamily="34" charset="0"/>
              </a:rPr>
              <a:t>KPI RECOMMENDATION</a:t>
            </a:r>
          </a:p>
        </p:txBody>
      </p:sp>
      <p:sp>
        <p:nvSpPr>
          <p:cNvPr id="202" name="RecBody_202"/>
          <p:cNvSpPr/>
          <p:nvPr/>
        </p:nvSpPr>
        <p:spPr>
          <a:xfrm>
            <a:off x="1989360" y="4499640"/>
            <a:ext cx="7040880" cy="558000"/>
          </a:xfrm>
          <a:prstGeom prst="rect">
            <a:avLst/>
          </a:prstGeom>
          <a:noFill/>
          <a:ln>
            <a:noFill/>
          </a:ln>
        </p:spPr>
        <p:txBody>
          <a:bodyPr wrap="square" lIns="91440" tIns="45720" rIns="91440" bIns="45720" rtlCol="0" anchor="ctr"/>
          <a:lstStyle/>
          <a:p>
            <a:pPr marL="0" indent="0">
              <a:buNone/>
            </a:pPr>
            <a:r>
              <a:rPr lang="en-US" sz="900" dirty="0">
                <a:solidFill>
                  <a:srgbClr val="E0F4F7"/>
                </a:solidFill>
                <a:latin typeface="Calibri" pitchFamily="34" charset="0"/>
              </a:rPr>
              <a:t>Revenue concentration risk is high. North East alone accounts for 25.5% of total revenue. Set region-specific revenue targets and track monthly KPI movement per zone to spot decline early.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Q1: REVENUE BY REGION</a:t>
            </a:r>
            <a:endParaRPr lang="en-US" sz="2000" dirty="0"/>
          </a:p>
        </p:txBody>
      </p:sp>
      <p:graphicFrame>
        <p:nvGraphicFramePr>
          <p:cNvPr id="4" name="Chart 0"/>
          <p:cNvGraphicFramePr/>
          <p:nvPr/>
        </p:nvGraphicFramePr>
        <p:xfrm>
          <a:off x="365760" y="822960"/>
          <a:ext cx="54864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126480" y="822960"/>
            <a:ext cx="2743200" cy="4114800"/>
          </a:xfrm>
          <a:prstGeom prst="rect">
            <a:avLst/>
          </a:prstGeom>
          <a:solidFill>
            <a:srgbClr val="F0F4F8"/>
          </a:solidFill>
          <a:ln/>
        </p:spPr>
      </p:sp>
      <p:sp>
        <p:nvSpPr>
          <p:cNvPr id="6" name="Text 3"/>
          <p:cNvSpPr/>
          <p:nvPr/>
        </p:nvSpPr>
        <p:spPr>
          <a:xfrm>
            <a:off x="6309360" y="914400"/>
            <a:ext cx="246888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Key Insights</a:t>
            </a:r>
            <a:endParaRPr lang="en-US" sz="1400" dirty="0"/>
          </a:p>
        </p:txBody>
      </p:sp>
      <p:sp>
        <p:nvSpPr>
          <p:cNvPr id="7" name="Shape 4"/>
          <p:cNvSpPr/>
          <p:nvPr/>
        </p:nvSpPr>
        <p:spPr>
          <a:xfrm>
            <a:off x="6217920" y="1417320"/>
            <a:ext cx="2606040" cy="658368"/>
          </a:xfrm>
          <a:prstGeom prst="rect">
            <a:avLst/>
          </a:prstGeom>
          <a:solidFill>
            <a:srgbClr val="FFFFFF"/>
          </a:solidFill>
          <a:ln/>
          <a:effectLst>
            <a:outerShdw blurRad="50800" dist="12700" dir="8100000" algn="bl" rotWithShape="0">
              <a:srgbClr val="000000">
                <a:alpha val="8000"/>
              </a:srgbClr>
            </a:outerShdw>
          </a:effectLst>
        </p:spPr>
      </p:sp>
      <p:sp>
        <p:nvSpPr>
          <p:cNvPr id="8" name="Text 5"/>
          <p:cNvSpPr/>
          <p:nvPr/>
        </p:nvSpPr>
        <p:spPr>
          <a:xfrm>
            <a:off x="6355080" y="1463040"/>
            <a:ext cx="2331720" cy="27432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North East leads</a:t>
            </a:r>
            <a:endParaRPr lang="en-US" sz="1100" dirty="0"/>
          </a:p>
        </p:txBody>
      </p:sp>
      <p:sp>
        <p:nvSpPr>
          <p:cNvPr id="9" name="Text 6"/>
          <p:cNvSpPr/>
          <p:nvPr/>
        </p:nvSpPr>
        <p:spPr>
          <a:xfrm>
            <a:off x="6355080" y="1737360"/>
            <a:ext cx="2331720" cy="256032"/>
          </a:xfrm>
          <a:prstGeom prst="rect">
            <a:avLst/>
          </a:prstGeom>
          <a:noFill/>
          <a:ln/>
        </p:spPr>
        <p:txBody>
          <a:bodyPr wrap="square" lIns="0" tIns="0" rIns="0" bIns="0" rtlCol="0" anchor="ctr"/>
          <a:lstStyle/>
          <a:p>
            <a:pPr marL="0" indent="0">
              <a:buNone/>
            </a:pPr>
            <a:r>
              <a:rPr lang="en-US" sz="1300" b="1" dirty="0">
                <a:solidFill>
                  <a:srgbClr val="1B998B"/>
                </a:solidFill>
                <a:latin typeface="Calibri" pitchFamily="34" charset="0"/>
                <a:ea typeface="Calibri" pitchFamily="34" charset="-122"/>
                <a:cs typeface="Calibri" pitchFamily="34" charset="-120"/>
              </a:rPr>
              <a:t>₦21.69B</a:t>
            </a:r>
            <a:endParaRPr lang="en-US" sz="1300" dirty="0"/>
          </a:p>
        </p:txBody>
      </p:sp>
      <p:sp>
        <p:nvSpPr>
          <p:cNvPr id="10" name="Shape 7"/>
          <p:cNvSpPr/>
          <p:nvPr/>
        </p:nvSpPr>
        <p:spPr>
          <a:xfrm>
            <a:off x="6217920" y="2167128"/>
            <a:ext cx="2606040" cy="658368"/>
          </a:xfrm>
          <a:prstGeom prst="rect">
            <a:avLst/>
          </a:prstGeom>
          <a:solidFill>
            <a:srgbClr val="FFFFFF"/>
          </a:solidFill>
          <a:ln/>
          <a:effectLst>
            <a:outerShdw blurRad="50800" dist="12700" dir="8100000" algn="bl" rotWithShape="0">
              <a:srgbClr val="000000">
                <a:alpha val="8000"/>
              </a:srgbClr>
            </a:outerShdw>
          </a:effectLst>
        </p:spPr>
      </p:sp>
      <p:sp>
        <p:nvSpPr>
          <p:cNvPr id="11" name="Text 8"/>
          <p:cNvSpPr/>
          <p:nvPr/>
        </p:nvSpPr>
        <p:spPr>
          <a:xfrm>
            <a:off x="6355080" y="2212848"/>
            <a:ext cx="2331720" cy="27432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South West 2nd</a:t>
            </a:r>
            <a:endParaRPr lang="en-US" sz="1100" dirty="0"/>
          </a:p>
        </p:txBody>
      </p:sp>
      <p:sp>
        <p:nvSpPr>
          <p:cNvPr id="12" name="Text 9"/>
          <p:cNvSpPr/>
          <p:nvPr/>
        </p:nvSpPr>
        <p:spPr>
          <a:xfrm>
            <a:off x="6355080" y="2487168"/>
            <a:ext cx="2331720" cy="256032"/>
          </a:xfrm>
          <a:prstGeom prst="rect">
            <a:avLst/>
          </a:prstGeom>
          <a:noFill/>
          <a:ln/>
        </p:spPr>
        <p:txBody>
          <a:bodyPr wrap="square" lIns="0" tIns="0" rIns="0" bIns="0" rtlCol="0" anchor="ctr"/>
          <a:lstStyle/>
          <a:p>
            <a:pPr marL="0" indent="0">
              <a:buNone/>
            </a:pPr>
            <a:r>
              <a:rPr lang="en-US" sz="1300" b="1" dirty="0">
                <a:solidFill>
                  <a:srgbClr val="1B998B"/>
                </a:solidFill>
                <a:latin typeface="Calibri" pitchFamily="34" charset="0"/>
                <a:ea typeface="Calibri" pitchFamily="34" charset="-122"/>
                <a:cs typeface="Calibri" pitchFamily="34" charset="-120"/>
              </a:rPr>
              <a:t>₦18.52B</a:t>
            </a:r>
            <a:endParaRPr lang="en-US" sz="1300" dirty="0"/>
          </a:p>
        </p:txBody>
      </p:sp>
      <p:sp>
        <p:nvSpPr>
          <p:cNvPr id="13" name="Shape 10"/>
          <p:cNvSpPr/>
          <p:nvPr/>
        </p:nvSpPr>
        <p:spPr>
          <a:xfrm>
            <a:off x="6217920" y="2916936"/>
            <a:ext cx="2606040" cy="658368"/>
          </a:xfrm>
          <a:prstGeom prst="rect">
            <a:avLst/>
          </a:prstGeom>
          <a:solidFill>
            <a:srgbClr val="FFFFFF"/>
          </a:solidFill>
          <a:ln/>
          <a:effectLst>
            <a:outerShdw blurRad="50800" dist="12700" dir="8100000" algn="bl" rotWithShape="0">
              <a:srgbClr val="000000">
                <a:alpha val="8000"/>
              </a:srgbClr>
            </a:outerShdw>
          </a:effectLst>
        </p:spPr>
      </p:sp>
      <p:sp>
        <p:nvSpPr>
          <p:cNvPr id="14" name="Text 11"/>
          <p:cNvSpPr/>
          <p:nvPr/>
        </p:nvSpPr>
        <p:spPr>
          <a:xfrm>
            <a:off x="6355080" y="2962656"/>
            <a:ext cx="2331720" cy="27432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ea typeface="Calibri" pitchFamily="34" charset="-122"/>
                <a:cs typeface="Calibri" pitchFamily="34" charset="-120"/>
              </a:rPr>
              <a:t>North Central lowest</a:t>
            </a:r>
            <a:endParaRPr lang="en-US" sz="1100" dirty="0"/>
          </a:p>
        </p:txBody>
      </p:sp>
      <p:sp>
        <p:nvSpPr>
          <p:cNvPr id="15" name="Text 12"/>
          <p:cNvSpPr/>
          <p:nvPr/>
        </p:nvSpPr>
        <p:spPr>
          <a:xfrm>
            <a:off x="6355080" y="3236976"/>
            <a:ext cx="2331720" cy="256032"/>
          </a:xfrm>
          <a:prstGeom prst="rect">
            <a:avLst/>
          </a:prstGeom>
          <a:noFill/>
          <a:ln/>
        </p:spPr>
        <p:txBody>
          <a:bodyPr wrap="square" lIns="0" tIns="0" rIns="0" bIns="0" rtlCol="0" anchor="ctr"/>
          <a:lstStyle/>
          <a:p>
            <a:pPr marL="0" indent="0">
              <a:buNone/>
            </a:pPr>
            <a:r>
              <a:rPr lang="en-US" sz="1300" b="1" dirty="0">
                <a:solidFill>
                  <a:srgbClr val="1B998B"/>
                </a:solidFill>
                <a:latin typeface="Calibri" pitchFamily="34" charset="0"/>
                <a:ea typeface="Calibri" pitchFamily="34" charset="-122"/>
                <a:cs typeface="Calibri" pitchFamily="34" charset="-120"/>
              </a:rPr>
              <a:t>₦7.53B</a:t>
            </a:r>
            <a:endParaRPr lang="en-US" sz="1300" dirty="0"/>
          </a:p>
        </p:txBody>
      </p:sp>
      <p:sp>
        <p:nvSpPr>
          <p:cNvPr id="16" name="Shape 13"/>
          <p:cNvSpPr/>
          <p:nvPr/>
        </p:nvSpPr>
        <p:spPr>
          <a:xfrm>
            <a:off x="6217920" y="3666744"/>
            <a:ext cx="2606040" cy="65836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17" name="Text 14"/>
          <p:cNvSpPr/>
          <p:nvPr/>
        </p:nvSpPr>
        <p:spPr>
          <a:xfrm>
            <a:off x="6355080" y="3712464"/>
            <a:ext cx="2331720" cy="274320"/>
          </a:xfrm>
          <a:prstGeom prst="rect">
            <a:avLst/>
          </a:prstGeom>
          <a:noFill/>
          <a:ln/>
        </p:spPr>
        <p:txBody>
          <a:bodyPr wrap="square" lIns="0" tIns="0" rIns="0" bIns="0" rtlCol="0" anchor="ctr"/>
          <a:lstStyle/>
          <a:p>
            <a:pPr marL="0" indent="0">
              <a:buNone/>
            </a:pPr>
            <a:r>
              <a:rPr lang="en-US" sz="1100" dirty="0">
                <a:solidFill>
                  <a:srgbClr val="718096"/>
                </a:solidFill>
                <a:latin typeface="Calibri" pitchFamily="34" charset="0"/>
                <a:cs typeface="Calibri" pitchFamily="34" charset="-120"/>
              </a:rPr>
              <a:t>North East generates almost 3 times more revenue than North Central</a:t>
            </a:r>
            <a:endParaRPr lang="en-US" sz="1100" dirty="0"/>
          </a:p>
        </p:txBody>
      </p:sp>
      <p:sp>
        <p:nvSpPr>
          <p:cNvPr id="18" name="Text 15"/>
          <p:cNvSpPr/>
          <p:nvPr/>
        </p:nvSpPr>
        <p:spPr>
          <a:xfrm>
            <a:off x="6355080" y="3986784"/>
            <a:ext cx="2331720" cy="256032"/>
          </a:xfrm>
          <a:prstGeom prst="rect">
            <a:avLst/>
          </a:prstGeom>
          <a:noFill/>
          <a:ln/>
        </p:spPr>
        <p:txBody>
          <a:bodyPr wrap="square" lIns="0" tIns="0" rIns="0" bIns="0" rtlCol="0" anchor="ctr"/>
          <a:lstStyle/>
          <a:p>
            <a:pPr marL="0" indent="0">
              <a:buNone/>
            </a:pPr>
            <a:endParaRPr lang="en-US" sz="1300" dirty="0"/>
          </a:p>
        </p:txBody>
      </p:sp>
      <p:sp>
        <p:nvSpPr>
          <p:cNvPr id="200" name="RecBg_200"/>
          <p:cNvSpPr/>
          <p:nvPr/>
        </p:nvSpPr>
        <p:spPr>
          <a:xfrm>
            <a:off x="0" y="4481640"/>
            <a:ext cx="9144000" cy="594000"/>
          </a:xfrm>
          <a:prstGeom prst="rect">
            <a:avLst/>
          </a:prstGeom>
          <a:solidFill>
            <a:srgbClr val="0D2137"/>
          </a:solidFill>
          <a:ln>
            <a:noFill/>
          </a:ln>
        </p:spPr>
      </p:sp>
      <p:sp>
        <p:nvSpPr>
          <p:cNvPr id="201" name="RecLabel_201"/>
          <p:cNvSpPr/>
          <p:nvPr/>
        </p:nvSpPr>
        <p:spPr>
          <a:xfrm>
            <a:off x="114300" y="4499640"/>
            <a:ext cx="1828800" cy="558000"/>
          </a:xfrm>
          <a:prstGeom prst="rect">
            <a:avLst/>
          </a:prstGeom>
          <a:solidFill>
            <a:srgbClr val="028090"/>
          </a:solidFill>
          <a:ln>
            <a:noFill/>
          </a:ln>
        </p:spPr>
        <p:txBody>
          <a:bodyPr wrap="square" lIns="91440" tIns="45720" rIns="91440" bIns="45720" rtlCol="0" anchor="ctr"/>
          <a:lstStyle/>
          <a:p>
            <a:pPr marL="0" indent="0">
              <a:buNone/>
            </a:pPr>
            <a:r>
              <a:rPr lang="en-US" sz="900" b="1" dirty="0">
                <a:solidFill>
                  <a:srgbClr val="FFFFFF"/>
                </a:solidFill>
                <a:latin typeface="Calibri" pitchFamily="34" charset="0"/>
              </a:rPr>
              <a:t>REGIONAL RECOMMENDATION</a:t>
            </a:r>
          </a:p>
        </p:txBody>
      </p:sp>
      <p:sp>
        <p:nvSpPr>
          <p:cNvPr id="202" name="RecBody_202"/>
          <p:cNvSpPr/>
          <p:nvPr/>
        </p:nvSpPr>
        <p:spPr>
          <a:xfrm>
            <a:off x="1989360" y="4499640"/>
            <a:ext cx="7040880" cy="558000"/>
          </a:xfrm>
          <a:prstGeom prst="rect">
            <a:avLst/>
          </a:prstGeom>
          <a:noFill/>
          <a:ln>
            <a:noFill/>
          </a:ln>
        </p:spPr>
        <p:txBody>
          <a:bodyPr wrap="square" lIns="91440" tIns="45720" rIns="91440" bIns="45720" rtlCol="0" anchor="ctr"/>
          <a:lstStyle/>
          <a:p>
            <a:pPr marL="0" indent="0">
              <a:buNone/>
            </a:pPr>
            <a:r>
              <a:rPr lang="en-US" sz="900" dirty="0">
                <a:solidFill>
                  <a:srgbClr val="E0F4F7"/>
                </a:solidFill>
                <a:latin typeface="Calibri" pitchFamily="34" charset="0"/>
              </a:rPr>
              <a:t>Invest in North Central and North West with targeted campaigns and dedicated sales teams. Replicate North East’s success model in underperforming zones. Conduct root-cause analysis on distribution, pricing, and penetration gaps.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Q3: REVENUE BY LINE OF BUSINESS</a:t>
            </a:r>
            <a:endParaRPr lang="en-US" sz="2000" dirty="0"/>
          </a:p>
        </p:txBody>
      </p:sp>
      <p:graphicFrame>
        <p:nvGraphicFramePr>
          <p:cNvPr id="4" name="Chart 0"/>
          <p:cNvGraphicFramePr/>
          <p:nvPr>
            <p:extLst>
              <p:ext uri="{D42A27DB-BD31-4B8C-83A1-F6EECF244321}">
                <p14:modId xmlns:p14="http://schemas.microsoft.com/office/powerpoint/2010/main" val="3891642991"/>
              </p:ext>
            </p:extLst>
          </p:nvPr>
        </p:nvGraphicFramePr>
        <p:xfrm>
          <a:off x="274320" y="777240"/>
          <a:ext cx="4395350" cy="3694276"/>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303520" y="822960"/>
            <a:ext cx="3474720" cy="822960"/>
          </a:xfrm>
          <a:prstGeom prst="rect">
            <a:avLst/>
          </a:prstGeom>
          <a:solidFill>
            <a:srgbClr val="F0F4F8"/>
          </a:solidFill>
          <a:ln/>
        </p:spPr>
      </p:sp>
      <p:sp>
        <p:nvSpPr>
          <p:cNvPr id="6" name="Shape 3"/>
          <p:cNvSpPr/>
          <p:nvPr/>
        </p:nvSpPr>
        <p:spPr>
          <a:xfrm>
            <a:off x="5303520" y="822960"/>
            <a:ext cx="73152" cy="822960"/>
          </a:xfrm>
          <a:prstGeom prst="rect">
            <a:avLst/>
          </a:prstGeom>
          <a:solidFill>
            <a:srgbClr val="1B998B"/>
          </a:solidFill>
          <a:ln w="12700">
            <a:solidFill>
              <a:srgbClr val="1B998B"/>
            </a:solidFill>
            <a:prstDash val="solid"/>
          </a:ln>
        </p:spPr>
      </p:sp>
      <p:sp>
        <p:nvSpPr>
          <p:cNvPr id="7" name="Text 4"/>
          <p:cNvSpPr/>
          <p:nvPr/>
        </p:nvSpPr>
        <p:spPr>
          <a:xfrm>
            <a:off x="5486400" y="850392"/>
            <a:ext cx="3108960"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Service Plan — 70.8%</a:t>
            </a:r>
            <a:endParaRPr lang="en-US" sz="1200" dirty="0"/>
          </a:p>
        </p:txBody>
      </p:sp>
      <p:sp>
        <p:nvSpPr>
          <p:cNvPr id="8" name="Text 5"/>
          <p:cNvSpPr/>
          <p:nvPr/>
        </p:nvSpPr>
        <p:spPr>
          <a:xfrm>
            <a:off x="5486400" y="1161288"/>
            <a:ext cx="3108960" cy="25603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Revenue: ₦60.31B  |  Units: 300,490</a:t>
            </a:r>
            <a:endParaRPr lang="en-US" sz="1000" dirty="0"/>
          </a:p>
        </p:txBody>
      </p:sp>
      <p:sp>
        <p:nvSpPr>
          <p:cNvPr id="9" name="Shape 6"/>
          <p:cNvSpPr/>
          <p:nvPr/>
        </p:nvSpPr>
        <p:spPr>
          <a:xfrm>
            <a:off x="5303520" y="1810512"/>
            <a:ext cx="3474720" cy="822960"/>
          </a:xfrm>
          <a:prstGeom prst="rect">
            <a:avLst/>
          </a:prstGeom>
          <a:solidFill>
            <a:srgbClr val="F0F4F8"/>
          </a:solidFill>
          <a:ln/>
        </p:spPr>
      </p:sp>
      <p:sp>
        <p:nvSpPr>
          <p:cNvPr id="10" name="Shape 7"/>
          <p:cNvSpPr/>
          <p:nvPr/>
        </p:nvSpPr>
        <p:spPr>
          <a:xfrm>
            <a:off x="5303520" y="1810512"/>
            <a:ext cx="73152" cy="822960"/>
          </a:xfrm>
          <a:prstGeom prst="rect">
            <a:avLst/>
          </a:prstGeom>
          <a:solidFill>
            <a:srgbClr val="0D1B2A"/>
          </a:solidFill>
          <a:ln w="12700">
            <a:solidFill>
              <a:srgbClr val="0D1B2A"/>
            </a:solidFill>
            <a:prstDash val="solid"/>
          </a:ln>
        </p:spPr>
      </p:sp>
      <p:sp>
        <p:nvSpPr>
          <p:cNvPr id="11" name="Text 8"/>
          <p:cNvSpPr/>
          <p:nvPr/>
        </p:nvSpPr>
        <p:spPr>
          <a:xfrm>
            <a:off x="5486400" y="1837944"/>
            <a:ext cx="3108960"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Copier Sale — 10.5%</a:t>
            </a:r>
            <a:endParaRPr lang="en-US" sz="1200" dirty="0"/>
          </a:p>
        </p:txBody>
      </p:sp>
      <p:sp>
        <p:nvSpPr>
          <p:cNvPr id="12" name="Text 9"/>
          <p:cNvSpPr/>
          <p:nvPr/>
        </p:nvSpPr>
        <p:spPr>
          <a:xfrm>
            <a:off x="5486400" y="2148840"/>
            <a:ext cx="3108960" cy="25603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Revenue: ₦8.95B  |  Units: 26,527</a:t>
            </a:r>
            <a:endParaRPr lang="en-US" sz="1000" dirty="0"/>
          </a:p>
        </p:txBody>
      </p:sp>
      <p:sp>
        <p:nvSpPr>
          <p:cNvPr id="13" name="Shape 10"/>
          <p:cNvSpPr/>
          <p:nvPr/>
        </p:nvSpPr>
        <p:spPr>
          <a:xfrm>
            <a:off x="5303520" y="2798064"/>
            <a:ext cx="3474720" cy="822960"/>
          </a:xfrm>
          <a:prstGeom prst="rect">
            <a:avLst/>
          </a:prstGeom>
          <a:solidFill>
            <a:srgbClr val="F0F4F8"/>
          </a:solidFill>
          <a:ln/>
        </p:spPr>
      </p:sp>
      <p:sp>
        <p:nvSpPr>
          <p:cNvPr id="14" name="Shape 11"/>
          <p:cNvSpPr/>
          <p:nvPr/>
        </p:nvSpPr>
        <p:spPr>
          <a:xfrm>
            <a:off x="5303520" y="2798064"/>
            <a:ext cx="73152" cy="822960"/>
          </a:xfrm>
          <a:prstGeom prst="rect">
            <a:avLst/>
          </a:prstGeom>
          <a:solidFill>
            <a:srgbClr val="FF6B35"/>
          </a:solidFill>
          <a:ln w="12700">
            <a:solidFill>
              <a:srgbClr val="FF6B35"/>
            </a:solidFill>
            <a:prstDash val="solid"/>
          </a:ln>
        </p:spPr>
      </p:sp>
      <p:sp>
        <p:nvSpPr>
          <p:cNvPr id="15" name="Text 12"/>
          <p:cNvSpPr/>
          <p:nvPr/>
        </p:nvSpPr>
        <p:spPr>
          <a:xfrm>
            <a:off x="5486400" y="2825496"/>
            <a:ext cx="3108960"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Parts — 10.3%</a:t>
            </a:r>
            <a:endParaRPr lang="en-US" sz="1200" dirty="0"/>
          </a:p>
        </p:txBody>
      </p:sp>
      <p:sp>
        <p:nvSpPr>
          <p:cNvPr id="16" name="Text 13"/>
          <p:cNvSpPr/>
          <p:nvPr/>
        </p:nvSpPr>
        <p:spPr>
          <a:xfrm>
            <a:off x="5486400" y="3136392"/>
            <a:ext cx="3108960" cy="25603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Revenue: ₦8.73B  |  Units: 575,292</a:t>
            </a:r>
            <a:endParaRPr lang="en-US" sz="1000" dirty="0"/>
          </a:p>
        </p:txBody>
      </p:sp>
      <p:sp>
        <p:nvSpPr>
          <p:cNvPr id="17" name="Shape 14"/>
          <p:cNvSpPr/>
          <p:nvPr/>
        </p:nvSpPr>
        <p:spPr>
          <a:xfrm>
            <a:off x="5303520" y="3785616"/>
            <a:ext cx="3474720" cy="822960"/>
          </a:xfrm>
          <a:prstGeom prst="rect">
            <a:avLst/>
          </a:prstGeom>
          <a:solidFill>
            <a:srgbClr val="F0F4F8"/>
          </a:solidFill>
          <a:ln/>
        </p:spPr>
      </p:sp>
      <p:sp>
        <p:nvSpPr>
          <p:cNvPr id="18" name="Shape 15"/>
          <p:cNvSpPr/>
          <p:nvPr/>
        </p:nvSpPr>
        <p:spPr>
          <a:xfrm>
            <a:off x="5303520" y="3785616"/>
            <a:ext cx="73152" cy="822960"/>
          </a:xfrm>
          <a:prstGeom prst="rect">
            <a:avLst/>
          </a:prstGeom>
          <a:solidFill>
            <a:srgbClr val="2EC4B6"/>
          </a:solidFill>
          <a:ln w="12700">
            <a:solidFill>
              <a:srgbClr val="2EC4B6"/>
            </a:solidFill>
            <a:prstDash val="solid"/>
          </a:ln>
        </p:spPr>
      </p:sp>
      <p:sp>
        <p:nvSpPr>
          <p:cNvPr id="19" name="Text 16"/>
          <p:cNvSpPr/>
          <p:nvPr/>
        </p:nvSpPr>
        <p:spPr>
          <a:xfrm>
            <a:off x="5486400" y="3813048"/>
            <a:ext cx="3108960" cy="2926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Printer Sale — 8.4%</a:t>
            </a:r>
            <a:endParaRPr lang="en-US" sz="1200" dirty="0"/>
          </a:p>
        </p:txBody>
      </p:sp>
      <p:sp>
        <p:nvSpPr>
          <p:cNvPr id="20" name="Text 17"/>
          <p:cNvSpPr/>
          <p:nvPr/>
        </p:nvSpPr>
        <p:spPr>
          <a:xfrm>
            <a:off x="5486400" y="4123944"/>
            <a:ext cx="3108960" cy="25603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Revenue: ₦7.14B  |  Units: 14,902</a:t>
            </a:r>
            <a:endParaRPr lang="en-US" sz="1000" dirty="0"/>
          </a:p>
        </p:txBody>
      </p:sp>
      <p:sp>
        <p:nvSpPr>
          <p:cNvPr id="200" name="RecBg_200"/>
          <p:cNvSpPr/>
          <p:nvPr/>
        </p:nvSpPr>
        <p:spPr>
          <a:xfrm>
            <a:off x="0" y="4551976"/>
            <a:ext cx="9144000" cy="594000"/>
          </a:xfrm>
          <a:prstGeom prst="rect">
            <a:avLst/>
          </a:prstGeom>
          <a:solidFill>
            <a:srgbClr val="0D2137"/>
          </a:solidFill>
          <a:ln>
            <a:noFill/>
          </a:ln>
        </p:spPr>
      </p:sp>
      <p:sp>
        <p:nvSpPr>
          <p:cNvPr id="201" name="RecLabel_201"/>
          <p:cNvSpPr/>
          <p:nvPr/>
        </p:nvSpPr>
        <p:spPr>
          <a:xfrm>
            <a:off x="3772" y="4569976"/>
            <a:ext cx="1828800" cy="558000"/>
          </a:xfrm>
          <a:prstGeom prst="rect">
            <a:avLst/>
          </a:prstGeom>
          <a:solidFill>
            <a:srgbClr val="028090"/>
          </a:solidFill>
          <a:ln>
            <a:noFill/>
          </a:ln>
        </p:spPr>
        <p:txBody>
          <a:bodyPr wrap="square" lIns="91440" tIns="45720" rIns="91440" bIns="45720" rtlCol="0" anchor="ctr"/>
          <a:lstStyle/>
          <a:p>
            <a:pPr marL="0" indent="0">
              <a:buNone/>
            </a:pPr>
            <a:r>
              <a:rPr lang="en-US" sz="900" b="1" dirty="0">
                <a:solidFill>
                  <a:srgbClr val="FFFFFF"/>
                </a:solidFill>
                <a:latin typeface="Calibri" pitchFamily="34" charset="0"/>
              </a:rPr>
              <a:t>LINE OF BUSINESS RECOMMENDATION</a:t>
            </a:r>
          </a:p>
        </p:txBody>
      </p:sp>
      <p:sp>
        <p:nvSpPr>
          <p:cNvPr id="202" name="RecBody_202"/>
          <p:cNvSpPr/>
          <p:nvPr/>
        </p:nvSpPr>
        <p:spPr>
          <a:xfrm>
            <a:off x="1989360" y="4569976"/>
            <a:ext cx="7040880" cy="558000"/>
          </a:xfrm>
          <a:prstGeom prst="rect">
            <a:avLst/>
          </a:prstGeom>
          <a:noFill/>
          <a:ln>
            <a:noFill/>
          </a:ln>
        </p:spPr>
        <p:txBody>
          <a:bodyPr wrap="square" lIns="91440" tIns="45720" rIns="91440" bIns="45720" rtlCol="0" anchor="ctr"/>
          <a:lstStyle/>
          <a:p>
            <a:pPr marL="0" indent="0">
              <a:buNone/>
            </a:pPr>
            <a:r>
              <a:rPr lang="en-US" sz="900" dirty="0">
                <a:solidFill>
                  <a:srgbClr val="E0F4F7"/>
                </a:solidFill>
                <a:latin typeface="Calibri" pitchFamily="34" charset="0"/>
              </a:rPr>
              <a:t>Bundle service plans at every hardware sale to grow the 70.8% recurring revenue base further. Launch a structured after-sales programme to grow Parts (10.3%). Track Net Revenue Retention per service cohort to reduce churn.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Q4: WEEKDAY vs WEEKEND SALES PERFORMANCE</a:t>
            </a:r>
            <a:endParaRPr lang="en-US" sz="2000" dirty="0"/>
          </a:p>
        </p:txBody>
      </p:sp>
      <p:graphicFrame>
        <p:nvGraphicFramePr>
          <p:cNvPr id="4" name="Chart 0"/>
          <p:cNvGraphicFramePr/>
          <p:nvPr>
            <p:extLst>
              <p:ext uri="{D42A27DB-BD31-4B8C-83A1-F6EECF244321}">
                <p14:modId xmlns:p14="http://schemas.microsoft.com/office/powerpoint/2010/main" val="1083850577"/>
              </p:ext>
            </p:extLst>
          </p:nvPr>
        </p:nvGraphicFramePr>
        <p:xfrm>
          <a:off x="365760" y="777240"/>
          <a:ext cx="5394960" cy="3602736"/>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126480" y="777240"/>
            <a:ext cx="2743200" cy="4114800"/>
          </a:xfrm>
          <a:prstGeom prst="rect">
            <a:avLst/>
          </a:prstGeom>
          <a:solidFill>
            <a:srgbClr val="F0F4F8"/>
          </a:solidFill>
          <a:ln/>
        </p:spPr>
      </p:sp>
      <p:sp>
        <p:nvSpPr>
          <p:cNvPr id="6" name="Text 3"/>
          <p:cNvSpPr/>
          <p:nvPr/>
        </p:nvSpPr>
        <p:spPr>
          <a:xfrm>
            <a:off x="6309360" y="868680"/>
            <a:ext cx="246888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Breakdown</a:t>
            </a:r>
            <a:endParaRPr lang="en-US" sz="1400" dirty="0"/>
          </a:p>
        </p:txBody>
      </p:sp>
      <p:sp>
        <p:nvSpPr>
          <p:cNvPr id="7" name="Shape 4"/>
          <p:cNvSpPr/>
          <p:nvPr/>
        </p:nvSpPr>
        <p:spPr>
          <a:xfrm>
            <a:off x="6263640" y="1371600"/>
            <a:ext cx="2560320" cy="530352"/>
          </a:xfrm>
          <a:prstGeom prst="rect">
            <a:avLst/>
          </a:prstGeom>
          <a:solidFill>
            <a:srgbClr val="FFFFFF"/>
          </a:solidFill>
          <a:ln/>
        </p:spPr>
      </p:sp>
      <p:sp>
        <p:nvSpPr>
          <p:cNvPr id="8" name="Shape 5"/>
          <p:cNvSpPr/>
          <p:nvPr/>
        </p:nvSpPr>
        <p:spPr>
          <a:xfrm>
            <a:off x="6263640" y="1371600"/>
            <a:ext cx="64008" cy="530352"/>
          </a:xfrm>
          <a:prstGeom prst="rect">
            <a:avLst/>
          </a:prstGeom>
          <a:solidFill>
            <a:srgbClr val="1B998B"/>
          </a:solidFill>
          <a:ln w="12700">
            <a:solidFill>
              <a:srgbClr val="1B998B"/>
            </a:solidFill>
            <a:prstDash val="solid"/>
          </a:ln>
        </p:spPr>
      </p:sp>
      <p:sp>
        <p:nvSpPr>
          <p:cNvPr id="9" name="Text 6"/>
          <p:cNvSpPr/>
          <p:nvPr/>
        </p:nvSpPr>
        <p:spPr>
          <a:xfrm>
            <a:off x="6400800" y="1389888"/>
            <a:ext cx="228600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WorkDay</a:t>
            </a:r>
            <a:endParaRPr lang="en-US" sz="1000" dirty="0"/>
          </a:p>
        </p:txBody>
      </p:sp>
      <p:sp>
        <p:nvSpPr>
          <p:cNvPr id="10" name="Text 7"/>
          <p:cNvSpPr/>
          <p:nvPr/>
        </p:nvSpPr>
        <p:spPr>
          <a:xfrm>
            <a:off x="6400800" y="1618488"/>
            <a:ext cx="2286000" cy="201168"/>
          </a:xfrm>
          <a:prstGeom prst="rect">
            <a:avLst/>
          </a:prstGeom>
          <a:noFill/>
          <a:ln/>
        </p:spPr>
        <p:txBody>
          <a:bodyPr wrap="square" lIns="0" tIns="0" rIns="0" bIns="0" rtlCol="0" anchor="ctr"/>
          <a:lstStyle/>
          <a:p>
            <a:pPr marL="0" indent="0">
              <a:buNone/>
            </a:pPr>
            <a:r>
              <a:rPr lang="en-US" sz="1200" b="1" dirty="0">
                <a:solidFill>
                  <a:srgbClr val="1B998B"/>
                </a:solidFill>
                <a:latin typeface="Calibri" pitchFamily="34" charset="0"/>
                <a:ea typeface="Calibri" pitchFamily="34" charset="-122"/>
                <a:cs typeface="Calibri" pitchFamily="34" charset="-120"/>
              </a:rPr>
              <a:t>94.8%</a:t>
            </a:r>
            <a:endParaRPr lang="en-US" sz="1200" dirty="0"/>
          </a:p>
        </p:txBody>
      </p:sp>
      <p:sp>
        <p:nvSpPr>
          <p:cNvPr id="11" name="Shape 8"/>
          <p:cNvSpPr/>
          <p:nvPr/>
        </p:nvSpPr>
        <p:spPr>
          <a:xfrm>
            <a:off x="6263640" y="2011680"/>
            <a:ext cx="2560320" cy="530352"/>
          </a:xfrm>
          <a:prstGeom prst="rect">
            <a:avLst/>
          </a:prstGeom>
          <a:solidFill>
            <a:srgbClr val="FFFFFF"/>
          </a:solidFill>
          <a:ln/>
        </p:spPr>
      </p:sp>
      <p:sp>
        <p:nvSpPr>
          <p:cNvPr id="12" name="Shape 9"/>
          <p:cNvSpPr/>
          <p:nvPr/>
        </p:nvSpPr>
        <p:spPr>
          <a:xfrm>
            <a:off x="6263640" y="2011680"/>
            <a:ext cx="64008" cy="530352"/>
          </a:xfrm>
          <a:prstGeom prst="rect">
            <a:avLst/>
          </a:prstGeom>
          <a:solidFill>
            <a:srgbClr val="2EC4B6"/>
          </a:solidFill>
          <a:ln w="12700">
            <a:solidFill>
              <a:srgbClr val="2EC4B6"/>
            </a:solidFill>
            <a:prstDash val="solid"/>
          </a:ln>
        </p:spPr>
      </p:sp>
      <p:sp>
        <p:nvSpPr>
          <p:cNvPr id="13" name="Text 10"/>
          <p:cNvSpPr/>
          <p:nvPr/>
        </p:nvSpPr>
        <p:spPr>
          <a:xfrm>
            <a:off x="6400800" y="2029968"/>
            <a:ext cx="228600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Public Holiday</a:t>
            </a:r>
            <a:endParaRPr lang="en-US" sz="1000" dirty="0"/>
          </a:p>
        </p:txBody>
      </p:sp>
      <p:sp>
        <p:nvSpPr>
          <p:cNvPr id="14" name="Text 11"/>
          <p:cNvSpPr/>
          <p:nvPr/>
        </p:nvSpPr>
        <p:spPr>
          <a:xfrm>
            <a:off x="6400800" y="2258568"/>
            <a:ext cx="2286000" cy="201168"/>
          </a:xfrm>
          <a:prstGeom prst="rect">
            <a:avLst/>
          </a:prstGeom>
          <a:noFill/>
          <a:ln/>
        </p:spPr>
        <p:txBody>
          <a:bodyPr wrap="square" lIns="0" tIns="0" rIns="0" bIns="0" rtlCol="0" anchor="ctr"/>
          <a:lstStyle/>
          <a:p>
            <a:pPr marL="0" indent="0">
              <a:buNone/>
            </a:pPr>
            <a:r>
              <a:rPr lang="en-US" sz="1200" b="1" dirty="0">
                <a:solidFill>
                  <a:srgbClr val="2EC4B6"/>
                </a:solidFill>
                <a:latin typeface="Calibri" pitchFamily="34" charset="0"/>
                <a:ea typeface="Calibri" pitchFamily="34" charset="-122"/>
                <a:cs typeface="Calibri" pitchFamily="34" charset="-120"/>
              </a:rPr>
              <a:t>2.7%</a:t>
            </a:r>
            <a:endParaRPr lang="en-US" sz="1200" dirty="0"/>
          </a:p>
        </p:txBody>
      </p:sp>
      <p:sp>
        <p:nvSpPr>
          <p:cNvPr id="15" name="Shape 12"/>
          <p:cNvSpPr/>
          <p:nvPr/>
        </p:nvSpPr>
        <p:spPr>
          <a:xfrm>
            <a:off x="6263640" y="2651760"/>
            <a:ext cx="2560320" cy="530352"/>
          </a:xfrm>
          <a:prstGeom prst="rect">
            <a:avLst/>
          </a:prstGeom>
          <a:solidFill>
            <a:srgbClr val="FFFFFF"/>
          </a:solidFill>
          <a:ln/>
        </p:spPr>
      </p:sp>
      <p:sp>
        <p:nvSpPr>
          <p:cNvPr id="16" name="Shape 13"/>
          <p:cNvSpPr/>
          <p:nvPr/>
        </p:nvSpPr>
        <p:spPr>
          <a:xfrm>
            <a:off x="6263640" y="2651760"/>
            <a:ext cx="64008" cy="530352"/>
          </a:xfrm>
          <a:prstGeom prst="rect">
            <a:avLst/>
          </a:prstGeom>
          <a:solidFill>
            <a:srgbClr val="FF6B35"/>
          </a:solidFill>
          <a:ln w="12700">
            <a:solidFill>
              <a:srgbClr val="FF6B35"/>
            </a:solidFill>
            <a:prstDash val="solid"/>
          </a:ln>
        </p:spPr>
      </p:sp>
      <p:sp>
        <p:nvSpPr>
          <p:cNvPr id="17" name="Text 14"/>
          <p:cNvSpPr/>
          <p:nvPr/>
        </p:nvSpPr>
        <p:spPr>
          <a:xfrm>
            <a:off x="6400800" y="2670048"/>
            <a:ext cx="228600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Season</a:t>
            </a:r>
            <a:endParaRPr lang="en-US" sz="1000" dirty="0"/>
          </a:p>
        </p:txBody>
      </p:sp>
      <p:sp>
        <p:nvSpPr>
          <p:cNvPr id="18" name="Text 15"/>
          <p:cNvSpPr/>
          <p:nvPr/>
        </p:nvSpPr>
        <p:spPr>
          <a:xfrm>
            <a:off x="6400800" y="2898648"/>
            <a:ext cx="2286000" cy="201168"/>
          </a:xfrm>
          <a:prstGeom prst="rect">
            <a:avLst/>
          </a:prstGeom>
          <a:noFill/>
          <a:ln/>
        </p:spPr>
        <p:txBody>
          <a:bodyPr wrap="square" lIns="0" tIns="0" rIns="0" bIns="0"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1.2%</a:t>
            </a:r>
            <a:endParaRPr lang="en-US" sz="1200" dirty="0"/>
          </a:p>
        </p:txBody>
      </p:sp>
      <p:sp>
        <p:nvSpPr>
          <p:cNvPr id="19" name="Shape 16"/>
          <p:cNvSpPr/>
          <p:nvPr/>
        </p:nvSpPr>
        <p:spPr>
          <a:xfrm>
            <a:off x="6263640" y="3291840"/>
            <a:ext cx="2560320" cy="530352"/>
          </a:xfrm>
          <a:prstGeom prst="rect">
            <a:avLst/>
          </a:prstGeom>
          <a:solidFill>
            <a:srgbClr val="FFFFFF"/>
          </a:solidFill>
          <a:ln/>
        </p:spPr>
      </p:sp>
      <p:sp>
        <p:nvSpPr>
          <p:cNvPr id="20" name="Shape 17"/>
          <p:cNvSpPr/>
          <p:nvPr/>
        </p:nvSpPr>
        <p:spPr>
          <a:xfrm>
            <a:off x="6263640" y="3291840"/>
            <a:ext cx="64008" cy="530352"/>
          </a:xfrm>
          <a:prstGeom prst="rect">
            <a:avLst/>
          </a:prstGeom>
          <a:solidFill>
            <a:srgbClr val="718096"/>
          </a:solidFill>
          <a:ln w="12700">
            <a:solidFill>
              <a:srgbClr val="718096"/>
            </a:solidFill>
            <a:prstDash val="solid"/>
          </a:ln>
        </p:spPr>
      </p:sp>
      <p:sp>
        <p:nvSpPr>
          <p:cNvPr id="21" name="Text 18"/>
          <p:cNvSpPr/>
          <p:nvPr/>
        </p:nvSpPr>
        <p:spPr>
          <a:xfrm>
            <a:off x="6400800" y="3310128"/>
            <a:ext cx="228600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Observance</a:t>
            </a:r>
            <a:endParaRPr lang="en-US" sz="1000" dirty="0"/>
          </a:p>
        </p:txBody>
      </p:sp>
      <p:sp>
        <p:nvSpPr>
          <p:cNvPr id="22" name="Text 19"/>
          <p:cNvSpPr/>
          <p:nvPr/>
        </p:nvSpPr>
        <p:spPr>
          <a:xfrm>
            <a:off x="6400800" y="3538728"/>
            <a:ext cx="2286000" cy="201168"/>
          </a:xfrm>
          <a:prstGeom prst="rect">
            <a:avLst/>
          </a:prstGeom>
          <a:noFill/>
          <a:ln/>
        </p:spPr>
        <p:txBody>
          <a:bodyPr wrap="square" lIns="0" tIns="0" rIns="0" bIns="0" rtlCol="0" anchor="ctr"/>
          <a:lstStyle/>
          <a:p>
            <a:pPr marL="0" indent="0">
              <a:buNone/>
            </a:pPr>
            <a:r>
              <a:rPr lang="en-US" sz="1200" b="1" dirty="0">
                <a:solidFill>
                  <a:srgbClr val="718096"/>
                </a:solidFill>
                <a:latin typeface="Calibri" pitchFamily="34" charset="0"/>
                <a:ea typeface="Calibri" pitchFamily="34" charset="-122"/>
                <a:cs typeface="Calibri" pitchFamily="34" charset="-120"/>
              </a:rPr>
              <a:t>1.0%</a:t>
            </a:r>
            <a:endParaRPr lang="en-US" sz="1200" dirty="0"/>
          </a:p>
        </p:txBody>
      </p:sp>
      <p:sp>
        <p:nvSpPr>
          <p:cNvPr id="23" name="Shape 20"/>
          <p:cNvSpPr/>
          <p:nvPr/>
        </p:nvSpPr>
        <p:spPr>
          <a:xfrm>
            <a:off x="6263640" y="3931920"/>
            <a:ext cx="2560320" cy="530352"/>
          </a:xfrm>
          <a:prstGeom prst="rect">
            <a:avLst/>
          </a:prstGeom>
          <a:solidFill>
            <a:srgbClr val="FFFFFF"/>
          </a:solidFill>
          <a:ln/>
        </p:spPr>
      </p:sp>
      <p:sp>
        <p:nvSpPr>
          <p:cNvPr id="24" name="Shape 21"/>
          <p:cNvSpPr/>
          <p:nvPr/>
        </p:nvSpPr>
        <p:spPr>
          <a:xfrm>
            <a:off x="6263640" y="3931920"/>
            <a:ext cx="64008" cy="530352"/>
          </a:xfrm>
          <a:prstGeom prst="rect">
            <a:avLst/>
          </a:prstGeom>
          <a:solidFill>
            <a:srgbClr val="CBD5E0"/>
          </a:solidFill>
          <a:ln w="12700">
            <a:solidFill>
              <a:srgbClr val="CBD5E0"/>
            </a:solidFill>
            <a:prstDash val="solid"/>
          </a:ln>
        </p:spPr>
      </p:sp>
      <p:sp>
        <p:nvSpPr>
          <p:cNvPr id="25" name="Text 22"/>
          <p:cNvSpPr/>
          <p:nvPr/>
        </p:nvSpPr>
        <p:spPr>
          <a:xfrm>
            <a:off x="6400800" y="3950208"/>
            <a:ext cx="2286000" cy="228600"/>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Local holiday</a:t>
            </a:r>
            <a:endParaRPr lang="en-US" sz="1000" dirty="0"/>
          </a:p>
        </p:txBody>
      </p:sp>
      <p:sp>
        <p:nvSpPr>
          <p:cNvPr id="26" name="Text 23"/>
          <p:cNvSpPr/>
          <p:nvPr/>
        </p:nvSpPr>
        <p:spPr>
          <a:xfrm>
            <a:off x="6400800" y="4178808"/>
            <a:ext cx="2286000" cy="201168"/>
          </a:xfrm>
          <a:prstGeom prst="rect">
            <a:avLst/>
          </a:prstGeom>
          <a:noFill/>
          <a:ln/>
        </p:spPr>
        <p:txBody>
          <a:bodyPr wrap="square" lIns="0" tIns="0" rIns="0" bIns="0" rtlCol="0" anchor="ctr"/>
          <a:lstStyle/>
          <a:p>
            <a:pPr marL="0" indent="0">
              <a:buNone/>
            </a:pPr>
            <a:r>
              <a:rPr lang="en-US" sz="1200" b="1" dirty="0">
                <a:solidFill>
                  <a:srgbClr val="CBD5E0"/>
                </a:solidFill>
                <a:latin typeface="Calibri" pitchFamily="34" charset="0"/>
                <a:ea typeface="Calibri" pitchFamily="34" charset="-122"/>
                <a:cs typeface="Calibri" pitchFamily="34" charset="-120"/>
              </a:rPr>
              <a:t>0.2%</a:t>
            </a:r>
            <a:endParaRPr lang="en-US" sz="1200" dirty="0"/>
          </a:p>
        </p:txBody>
      </p:sp>
      <p:sp>
        <p:nvSpPr>
          <p:cNvPr id="200" name="RecBg_200"/>
          <p:cNvSpPr/>
          <p:nvPr/>
        </p:nvSpPr>
        <p:spPr>
          <a:xfrm>
            <a:off x="0" y="4481640"/>
            <a:ext cx="9144000" cy="594000"/>
          </a:xfrm>
          <a:prstGeom prst="rect">
            <a:avLst/>
          </a:prstGeom>
          <a:solidFill>
            <a:srgbClr val="0D2137"/>
          </a:solidFill>
          <a:ln>
            <a:noFill/>
          </a:ln>
        </p:spPr>
      </p:sp>
      <p:sp>
        <p:nvSpPr>
          <p:cNvPr id="201" name="RecLabel_201"/>
          <p:cNvSpPr/>
          <p:nvPr/>
        </p:nvSpPr>
        <p:spPr>
          <a:xfrm>
            <a:off x="3772" y="4499640"/>
            <a:ext cx="1828800" cy="558000"/>
          </a:xfrm>
          <a:prstGeom prst="rect">
            <a:avLst/>
          </a:prstGeom>
          <a:solidFill>
            <a:srgbClr val="028090"/>
          </a:solidFill>
          <a:ln>
            <a:noFill/>
          </a:ln>
        </p:spPr>
        <p:txBody>
          <a:bodyPr wrap="square" lIns="91440" tIns="45720" rIns="91440" bIns="45720" rtlCol="0" anchor="ctr"/>
          <a:lstStyle/>
          <a:p>
            <a:pPr marL="0" indent="0">
              <a:buNone/>
            </a:pPr>
            <a:r>
              <a:rPr lang="en-US" sz="900" b="1" dirty="0">
                <a:solidFill>
                  <a:srgbClr val="FFFFFF"/>
                </a:solidFill>
                <a:latin typeface="Calibri" pitchFamily="34" charset="0"/>
              </a:rPr>
              <a:t>DAY TYPE RECOMMENDATION</a:t>
            </a:r>
          </a:p>
        </p:txBody>
      </p:sp>
      <p:sp>
        <p:nvSpPr>
          <p:cNvPr id="202" name="RecBody_202"/>
          <p:cNvSpPr/>
          <p:nvPr/>
        </p:nvSpPr>
        <p:spPr>
          <a:xfrm>
            <a:off x="1989360" y="4499640"/>
            <a:ext cx="7040880" cy="558000"/>
          </a:xfrm>
          <a:prstGeom prst="rect">
            <a:avLst/>
          </a:prstGeom>
          <a:noFill/>
          <a:ln>
            <a:noFill/>
          </a:ln>
        </p:spPr>
        <p:txBody>
          <a:bodyPr wrap="square" lIns="91440" tIns="45720" rIns="91440" bIns="45720" rtlCol="0" anchor="ctr"/>
          <a:lstStyle/>
          <a:p>
            <a:pPr marL="0" indent="0">
              <a:buNone/>
            </a:pPr>
            <a:r>
              <a:rPr lang="en-US" sz="900" dirty="0">
                <a:solidFill>
                  <a:srgbClr val="E0F4F7"/>
                </a:solidFill>
                <a:latin typeface="Calibri" pitchFamily="34" charset="0"/>
              </a:rPr>
              <a:t>Only 5.2% of revenue from non-WorkDays is a structural missed opportunity. Launch weekend and public holiday promotions, bundle deals, and flexible financing to activate demand on low-performing days.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1B2A"/>
          </a:solidFill>
          <a:ln>
            <a:noFill/>
          </a:ln>
        </p:spPr>
      </p:sp>
      <p:sp>
        <p:nvSpPr>
          <p:cNvPr id="3" name="Shape 1"/>
          <p:cNvSpPr/>
          <p:nvPr/>
        </p:nvSpPr>
        <p:spPr>
          <a:xfrm>
            <a:off x="320040" y="868680"/>
            <a:ext cx="8503920" cy="45720"/>
          </a:xfrm>
          <a:prstGeom prst="rect">
            <a:avLst/>
          </a:prstGeom>
          <a:solidFill>
            <a:srgbClr val="1B998B"/>
          </a:solidFill>
          <a:ln>
            <a:noFill/>
          </a:ln>
        </p:spPr>
      </p:sp>
      <p:sp>
        <p:nvSpPr>
          <p:cNvPr id="4" name="Title"/>
          <p:cNvSpPr/>
          <p:nvPr/>
        </p:nvSpPr>
        <p:spPr>
          <a:xfrm>
            <a:off x="365760" y="91440"/>
            <a:ext cx="8412480" cy="54864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rPr>
              <a:t>TOP MARKETS &amp; TOP STORES BY REVENUE</a:t>
            </a:r>
          </a:p>
        </p:txBody>
      </p:sp>
      <p:sp>
        <p:nvSpPr>
          <p:cNvPr id="5" name="MarketsLabel"/>
          <p:cNvSpPr/>
          <p:nvPr/>
        </p:nvSpPr>
        <p:spPr>
          <a:xfrm>
            <a:off x="365760" y="960120"/>
            <a:ext cx="4114800" cy="274320"/>
          </a:xfrm>
          <a:prstGeom prst="rect">
            <a:avLst/>
          </a:prstGeom>
          <a:noFill/>
          <a:ln/>
        </p:spPr>
        <p:txBody>
          <a:bodyPr wrap="square" lIns="0" tIns="0" rIns="0" bIns="0" rtlCol="0" anchor="ctr"/>
          <a:lstStyle/>
          <a:p>
            <a:pPr marL="0" indent="0" algn="ctr">
              <a:buNone/>
            </a:pPr>
            <a:r>
              <a:rPr lang="en-US" sz="1200" b="1" dirty="0">
                <a:solidFill>
                  <a:srgbClr val="1B998B"/>
                </a:solidFill>
                <a:latin typeface="Calibri" pitchFamily="34" charset="0"/>
              </a:rPr>
              <a:t>TOP 10 MARKETS (Revenue in ₦B)</a:t>
            </a:r>
          </a:p>
        </p:txBody>
      </p:sp>
      <p:sp>
        <p:nvSpPr>
          <p:cNvPr id="6" name="StoresLabel"/>
          <p:cNvSpPr/>
          <p:nvPr/>
        </p:nvSpPr>
        <p:spPr>
          <a:xfrm>
            <a:off x="4663440" y="960120"/>
            <a:ext cx="4114800" cy="274320"/>
          </a:xfrm>
          <a:prstGeom prst="rect">
            <a:avLst/>
          </a:prstGeom>
          <a:noFill/>
          <a:ln/>
        </p:spPr>
        <p:txBody>
          <a:bodyPr wrap="square" lIns="0" tIns="0" rIns="0" bIns="0" rtlCol="0" anchor="ctr"/>
          <a:lstStyle/>
          <a:p>
            <a:pPr marL="0" indent="0" algn="ctr">
              <a:buNone/>
            </a:pPr>
            <a:r>
              <a:rPr lang="en-US" sz="1200" b="1" dirty="0">
                <a:solidFill>
                  <a:srgbClr val="2EC4B6"/>
                </a:solidFill>
                <a:latin typeface="Calibri" pitchFamily="34" charset="0"/>
              </a:rPr>
              <a:t>TOP 10 STORES (Revenue in ₦B)</a:t>
            </a:r>
          </a:p>
        </p:txBody>
      </p:sp>
      <p:graphicFrame>
        <p:nvGraphicFramePr>
          <p:cNvPr id="7" name="MarketsChart"/>
          <p:cNvGraphicFramePr/>
          <p:nvPr>
            <p:extLst>
              <p:ext uri="{D42A27DB-BD31-4B8C-83A1-F6EECF244321}">
                <p14:modId xmlns:p14="http://schemas.microsoft.com/office/powerpoint/2010/main" val="3358645094"/>
              </p:ext>
            </p:extLst>
          </p:nvPr>
        </p:nvGraphicFramePr>
        <p:xfrm>
          <a:off x="274320" y="1234440"/>
          <a:ext cx="4206240" cy="31767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StoresChart"/>
          <p:cNvGraphicFramePr/>
          <p:nvPr>
            <p:extLst>
              <p:ext uri="{D42A27DB-BD31-4B8C-83A1-F6EECF244321}">
                <p14:modId xmlns:p14="http://schemas.microsoft.com/office/powerpoint/2010/main" val="766976109"/>
              </p:ext>
            </p:extLst>
          </p:nvPr>
        </p:nvGraphicFramePr>
        <p:xfrm>
          <a:off x="4754880" y="1234440"/>
          <a:ext cx="4114800" cy="3176786"/>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33D925F5-4297-4A8F-9AFA-514A0D02D29A}"/>
              </a:ext>
            </a:extLst>
          </p:cNvPr>
          <p:cNvSpPr txBox="1"/>
          <p:nvPr/>
        </p:nvSpPr>
        <p:spPr>
          <a:xfrm>
            <a:off x="182880" y="4411226"/>
            <a:ext cx="4297680" cy="738664"/>
          </a:xfrm>
          <a:prstGeom prst="rect">
            <a:avLst/>
          </a:prstGeom>
          <a:noFill/>
        </p:spPr>
        <p:txBody>
          <a:bodyPr wrap="square">
            <a:spAutoFit/>
          </a:bodyPr>
          <a:lstStyle/>
          <a:p>
            <a:r>
              <a:rPr lang="en-US" sz="1050" dirty="0"/>
              <a:t>Ekiti leads all markets with ₦6.47B in revenue, followed closely by </a:t>
            </a:r>
            <a:r>
              <a:rPr lang="en-US" sz="1050" dirty="0" err="1"/>
              <a:t>Abia</a:t>
            </a:r>
            <a:r>
              <a:rPr lang="en-US" sz="1050" dirty="0"/>
              <a:t> (₦5.84B) and Bayelsa (₦4.93B). The top 3 markets alone account for a significant share of total market revenue, while the remaining 7 markets perform at a relatively similar level between ₦4.1B and ₦4.5B.</a:t>
            </a:r>
          </a:p>
        </p:txBody>
      </p:sp>
      <p:sp>
        <p:nvSpPr>
          <p:cNvPr id="20" name="TextBox 19">
            <a:extLst>
              <a:ext uri="{FF2B5EF4-FFF2-40B4-BE49-F238E27FC236}">
                <a16:creationId xmlns:a16="http://schemas.microsoft.com/office/drawing/2014/main" id="{BCD62C27-1CDE-4028-9818-F7A97710EF35}"/>
              </a:ext>
            </a:extLst>
          </p:cNvPr>
          <p:cNvSpPr txBox="1"/>
          <p:nvPr/>
        </p:nvSpPr>
        <p:spPr>
          <a:xfrm>
            <a:off x="4754880" y="4411226"/>
            <a:ext cx="4206240" cy="738664"/>
          </a:xfrm>
          <a:prstGeom prst="rect">
            <a:avLst/>
          </a:prstGeom>
          <a:noFill/>
        </p:spPr>
        <p:txBody>
          <a:bodyPr wrap="square">
            <a:spAutoFit/>
          </a:bodyPr>
          <a:lstStyle/>
          <a:p>
            <a:r>
              <a:rPr lang="en-US" sz="1050" dirty="0" err="1"/>
              <a:t>Ankpa</a:t>
            </a:r>
            <a:r>
              <a:rPr lang="en-US" sz="1050" dirty="0"/>
              <a:t> is the highest-earning store with ₦1.97B, nearly 20% ahead of the second-place store </a:t>
            </a:r>
            <a:r>
              <a:rPr lang="en-US" sz="1050" dirty="0" err="1"/>
              <a:t>Ajaokuta</a:t>
            </a:r>
            <a:r>
              <a:rPr lang="en-US" sz="1050" dirty="0"/>
              <a:t> (₦1.65B). The top 3 stores, </a:t>
            </a:r>
            <a:r>
              <a:rPr lang="en-US" sz="1050" dirty="0" err="1"/>
              <a:t>Ankpa</a:t>
            </a:r>
            <a:r>
              <a:rPr lang="en-US" sz="1050" dirty="0"/>
              <a:t>, </a:t>
            </a:r>
            <a:r>
              <a:rPr lang="en-US" sz="1050" dirty="0" err="1"/>
              <a:t>Ajaokuta</a:t>
            </a:r>
            <a:r>
              <a:rPr lang="en-US" sz="1050" dirty="0"/>
              <a:t>, and Arochukwu, stand noticeably above the rest, while stores ranked 4th to 10th cluster closely between ₦1.07B and ₦1.44B.</a:t>
            </a:r>
          </a:p>
        </p:txBody>
      </p:sp>
      <p:sp>
        <p:nvSpPr>
          <p:cNvPr id="200" name="RecBg_200"/>
          <p:cNvSpPr/>
          <p:nvPr/>
        </p:nvSpPr>
        <p:spPr>
          <a:xfrm>
            <a:off x="0" y="4481640"/>
            <a:ext cx="9144000" cy="594000"/>
          </a:xfrm>
          <a:prstGeom prst="rect">
            <a:avLst/>
          </a:prstGeom>
          <a:solidFill>
            <a:srgbClr val="0D2137"/>
          </a:solidFill>
          <a:ln>
            <a:noFill/>
          </a:ln>
        </p:spPr>
      </p:sp>
      <p:sp>
        <p:nvSpPr>
          <p:cNvPr id="201" name="RecLabel_201"/>
          <p:cNvSpPr/>
          <p:nvPr/>
        </p:nvSpPr>
        <p:spPr>
          <a:xfrm>
            <a:off x="3772" y="4499640"/>
            <a:ext cx="1828800" cy="558000"/>
          </a:xfrm>
          <a:prstGeom prst="rect">
            <a:avLst/>
          </a:prstGeom>
          <a:solidFill>
            <a:srgbClr val="028090"/>
          </a:solidFill>
          <a:ln>
            <a:noFill/>
          </a:ln>
        </p:spPr>
        <p:txBody>
          <a:bodyPr wrap="square" lIns="91440" tIns="45720" rIns="91440" bIns="45720" rtlCol="0" anchor="ctr"/>
          <a:lstStyle/>
          <a:p>
            <a:pPr marL="0" indent="0">
              <a:buNone/>
            </a:pPr>
            <a:r>
              <a:rPr lang="en-US" sz="900" b="1" dirty="0">
                <a:solidFill>
                  <a:srgbClr val="FFFFFF"/>
                </a:solidFill>
                <a:latin typeface="Calibri" pitchFamily="34" charset="0"/>
              </a:rPr>
              <a:t>MARKETS &amp; STORES RECOMMENDATION</a:t>
            </a:r>
          </a:p>
        </p:txBody>
      </p:sp>
      <p:sp>
        <p:nvSpPr>
          <p:cNvPr id="202" name="RecBody_202"/>
          <p:cNvSpPr/>
          <p:nvPr/>
        </p:nvSpPr>
        <p:spPr>
          <a:xfrm>
            <a:off x="1989360" y="4499640"/>
            <a:ext cx="7040880" cy="558000"/>
          </a:xfrm>
          <a:prstGeom prst="rect">
            <a:avLst/>
          </a:prstGeom>
          <a:noFill/>
          <a:ln>
            <a:noFill/>
          </a:ln>
        </p:spPr>
        <p:txBody>
          <a:bodyPr wrap="square" lIns="91440" tIns="45720" rIns="91440" bIns="45720" rtlCol="0" anchor="ctr"/>
          <a:lstStyle/>
          <a:p>
            <a:pPr marL="0" indent="0">
              <a:buNone/>
            </a:pPr>
            <a:r>
              <a:rPr lang="en-US" sz="900" dirty="0">
                <a:solidFill>
                  <a:srgbClr val="E0F4F7"/>
                </a:solidFill>
                <a:latin typeface="Calibri" pitchFamily="34" charset="0"/>
              </a:rPr>
              <a:t>Create a Tier 1/2/3 market framework. Prioritise Ekiti, Abia, and Bayelsa for store expansion. Implement a Store Health Score for all outlets. Audit the bottom 25% of stores and restructure or close non-performers within 12 months.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DFF60E2-4E3C-42F2-8AC0-C462C856A57E}"/>
              </a:ext>
            </a:extLst>
          </p:cNvPr>
          <p:cNvSpPr/>
          <p:nvPr/>
        </p:nvSpPr>
        <p:spPr>
          <a:xfrm>
            <a:off x="0" y="0"/>
            <a:ext cx="9144000" cy="685800"/>
          </a:xfrm>
          <a:prstGeom prst="rect">
            <a:avLst/>
          </a:prstGeom>
          <a:solidFill>
            <a:srgbClr val="0D1B2A"/>
          </a:solidFill>
          <a:ln w="12700">
            <a:solidFill>
              <a:srgbClr val="0D1B2A"/>
            </a:solidFill>
            <a:prstDash val="solid"/>
          </a:ln>
        </p:spPr>
      </p:sp>
      <p:sp>
        <p:nvSpPr>
          <p:cNvPr id="3" name="Text 1">
            <a:extLst>
              <a:ext uri="{FF2B5EF4-FFF2-40B4-BE49-F238E27FC236}">
                <a16:creationId xmlns:a16="http://schemas.microsoft.com/office/drawing/2014/main" id="{858C2C70-AAEF-4BDD-B20C-73C82B5DF87B}"/>
              </a:ext>
            </a:extLst>
          </p:cNvPr>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TOP PRODUCT MODELS BY REVENUE</a:t>
            </a:r>
            <a:endParaRPr lang="en-US" sz="2000" dirty="0"/>
          </a:p>
        </p:txBody>
      </p:sp>
      <p:graphicFrame>
        <p:nvGraphicFramePr>
          <p:cNvPr id="4" name="Chart 0">
            <a:extLst>
              <a:ext uri="{FF2B5EF4-FFF2-40B4-BE49-F238E27FC236}">
                <a16:creationId xmlns:a16="http://schemas.microsoft.com/office/drawing/2014/main" id="{176F4D92-F5DE-4AD3-9094-D8B0AF81B16F}"/>
              </a:ext>
            </a:extLst>
          </p:cNvPr>
          <p:cNvGraphicFramePr/>
          <p:nvPr/>
        </p:nvGraphicFramePr>
        <p:xfrm>
          <a:off x="274320" y="777240"/>
          <a:ext cx="4754880" cy="420624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2">
            <a:extLst>
              <a:ext uri="{FF2B5EF4-FFF2-40B4-BE49-F238E27FC236}">
                <a16:creationId xmlns:a16="http://schemas.microsoft.com/office/drawing/2014/main" id="{7E1905F6-1034-4731-B77C-2F4CE44E0FB5}"/>
              </a:ext>
            </a:extLst>
          </p:cNvPr>
          <p:cNvSpPr/>
          <p:nvPr/>
        </p:nvSpPr>
        <p:spPr>
          <a:xfrm>
            <a:off x="5303520" y="868680"/>
            <a:ext cx="3474720" cy="347472"/>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Top 3 Models</a:t>
            </a:r>
            <a:endParaRPr lang="en-US" sz="1400" dirty="0"/>
          </a:p>
        </p:txBody>
      </p:sp>
      <p:sp>
        <p:nvSpPr>
          <p:cNvPr id="6" name="Shape 3">
            <a:extLst>
              <a:ext uri="{FF2B5EF4-FFF2-40B4-BE49-F238E27FC236}">
                <a16:creationId xmlns:a16="http://schemas.microsoft.com/office/drawing/2014/main" id="{6217F924-793D-4C4E-8FED-51A7EDB9798C}"/>
              </a:ext>
            </a:extLst>
          </p:cNvPr>
          <p:cNvSpPr/>
          <p:nvPr/>
        </p:nvSpPr>
        <p:spPr>
          <a:xfrm>
            <a:off x="5303520" y="1325880"/>
            <a:ext cx="3474720" cy="868680"/>
          </a:xfrm>
          <a:prstGeom prst="rect">
            <a:avLst/>
          </a:prstGeom>
          <a:solidFill>
            <a:srgbClr val="F0F4F8"/>
          </a:solidFill>
          <a:ln w="12700">
            <a:solidFill>
              <a:srgbClr val="E2E8F0"/>
            </a:solidFill>
            <a:prstDash val="solid"/>
          </a:ln>
        </p:spPr>
      </p:sp>
      <p:sp>
        <p:nvSpPr>
          <p:cNvPr id="7" name="Shape 4">
            <a:extLst>
              <a:ext uri="{FF2B5EF4-FFF2-40B4-BE49-F238E27FC236}">
                <a16:creationId xmlns:a16="http://schemas.microsoft.com/office/drawing/2014/main" id="{7FE4A148-7370-4AF8-8AB9-6B7812447285}"/>
              </a:ext>
            </a:extLst>
          </p:cNvPr>
          <p:cNvSpPr/>
          <p:nvPr/>
        </p:nvSpPr>
        <p:spPr>
          <a:xfrm>
            <a:off x="5303520" y="1325880"/>
            <a:ext cx="73152" cy="868680"/>
          </a:xfrm>
          <a:prstGeom prst="rect">
            <a:avLst/>
          </a:prstGeom>
          <a:solidFill>
            <a:srgbClr val="1B998B"/>
          </a:solidFill>
          <a:ln w="12700">
            <a:solidFill>
              <a:srgbClr val="1B998B"/>
            </a:solidFill>
            <a:prstDash val="solid"/>
          </a:ln>
        </p:spPr>
      </p:sp>
      <p:sp>
        <p:nvSpPr>
          <p:cNvPr id="8" name="Text 5">
            <a:extLst>
              <a:ext uri="{FF2B5EF4-FFF2-40B4-BE49-F238E27FC236}">
                <a16:creationId xmlns:a16="http://schemas.microsoft.com/office/drawing/2014/main" id="{94A9E158-E2A7-4B7E-AE4C-CAF284D43EAF}"/>
              </a:ext>
            </a:extLst>
          </p:cNvPr>
          <p:cNvSpPr/>
          <p:nvPr/>
        </p:nvSpPr>
        <p:spPr>
          <a:xfrm>
            <a:off x="5468112" y="1380744"/>
            <a:ext cx="1097280" cy="347472"/>
          </a:xfrm>
          <a:prstGeom prst="rect">
            <a:avLst/>
          </a:prstGeom>
          <a:noFill/>
          <a:ln/>
        </p:spPr>
        <p:txBody>
          <a:bodyPr wrap="square" lIns="0" tIns="0" rIns="0" bIns="0" rtlCol="0" anchor="ctr"/>
          <a:lstStyle/>
          <a:p>
            <a:pPr marL="0" indent="0">
              <a:buNone/>
            </a:pPr>
            <a:r>
              <a:rPr lang="en-US" sz="1800" b="1" dirty="0">
                <a:solidFill>
                  <a:srgbClr val="1B998B"/>
                </a:solidFill>
                <a:latin typeface="Calibri" pitchFamily="34" charset="0"/>
                <a:ea typeface="Calibri" pitchFamily="34" charset="-122"/>
                <a:cs typeface="Calibri" pitchFamily="34" charset="-120"/>
              </a:rPr>
              <a:t>3002P</a:t>
            </a:r>
            <a:endParaRPr lang="en-US" sz="1800" dirty="0"/>
          </a:p>
        </p:txBody>
      </p:sp>
      <p:sp>
        <p:nvSpPr>
          <p:cNvPr id="9" name="Text 6">
            <a:extLst>
              <a:ext uri="{FF2B5EF4-FFF2-40B4-BE49-F238E27FC236}">
                <a16:creationId xmlns:a16="http://schemas.microsoft.com/office/drawing/2014/main" id="{51AE5ADA-352C-4295-95CE-F178E1FFA97E}"/>
              </a:ext>
            </a:extLst>
          </p:cNvPr>
          <p:cNvSpPr/>
          <p:nvPr/>
        </p:nvSpPr>
        <p:spPr>
          <a:xfrm>
            <a:off x="6583680" y="1380744"/>
            <a:ext cx="2011680" cy="347472"/>
          </a:xfrm>
          <a:prstGeom prst="rect">
            <a:avLst/>
          </a:prstGeom>
          <a:noFill/>
          <a:ln/>
        </p:spPr>
        <p:txBody>
          <a:bodyPr wrap="square" lIns="0" tIns="0" rIns="0" bIns="0"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₦30.20B</a:t>
            </a:r>
            <a:endParaRPr lang="en-US" sz="1600" dirty="0"/>
          </a:p>
        </p:txBody>
      </p:sp>
      <p:sp>
        <p:nvSpPr>
          <p:cNvPr id="10" name="Text 7">
            <a:extLst>
              <a:ext uri="{FF2B5EF4-FFF2-40B4-BE49-F238E27FC236}">
                <a16:creationId xmlns:a16="http://schemas.microsoft.com/office/drawing/2014/main" id="{A692E8E4-5878-4735-9F8B-B20D7A7EA7E0}"/>
              </a:ext>
            </a:extLst>
          </p:cNvPr>
          <p:cNvSpPr/>
          <p:nvPr/>
        </p:nvSpPr>
        <p:spPr>
          <a:xfrm>
            <a:off x="5468112" y="1828800"/>
            <a:ext cx="3200400" cy="25603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35.5%  |  Top model — nearly 2× the next</a:t>
            </a:r>
            <a:endParaRPr lang="en-US" sz="1000" dirty="0"/>
          </a:p>
        </p:txBody>
      </p:sp>
      <p:sp>
        <p:nvSpPr>
          <p:cNvPr id="11" name="Shape 8">
            <a:extLst>
              <a:ext uri="{FF2B5EF4-FFF2-40B4-BE49-F238E27FC236}">
                <a16:creationId xmlns:a16="http://schemas.microsoft.com/office/drawing/2014/main" id="{847B3B95-474A-4511-A68A-6A89EFFCE889}"/>
              </a:ext>
            </a:extLst>
          </p:cNvPr>
          <p:cNvSpPr/>
          <p:nvPr/>
        </p:nvSpPr>
        <p:spPr>
          <a:xfrm>
            <a:off x="5303520" y="2331720"/>
            <a:ext cx="3474720" cy="868680"/>
          </a:xfrm>
          <a:prstGeom prst="rect">
            <a:avLst/>
          </a:prstGeom>
          <a:solidFill>
            <a:srgbClr val="F0F4F8"/>
          </a:solidFill>
          <a:ln w="12700">
            <a:solidFill>
              <a:srgbClr val="E2E8F0"/>
            </a:solidFill>
            <a:prstDash val="solid"/>
          </a:ln>
        </p:spPr>
      </p:sp>
      <p:sp>
        <p:nvSpPr>
          <p:cNvPr id="12" name="Shape 9">
            <a:extLst>
              <a:ext uri="{FF2B5EF4-FFF2-40B4-BE49-F238E27FC236}">
                <a16:creationId xmlns:a16="http://schemas.microsoft.com/office/drawing/2014/main" id="{E80CDABA-1EB3-4479-998C-E4405826D564}"/>
              </a:ext>
            </a:extLst>
          </p:cNvPr>
          <p:cNvSpPr/>
          <p:nvPr/>
        </p:nvSpPr>
        <p:spPr>
          <a:xfrm>
            <a:off x="5303520" y="2331720"/>
            <a:ext cx="73152" cy="868680"/>
          </a:xfrm>
          <a:prstGeom prst="rect">
            <a:avLst/>
          </a:prstGeom>
          <a:solidFill>
            <a:srgbClr val="0D1B2A"/>
          </a:solidFill>
          <a:ln w="12700">
            <a:solidFill>
              <a:srgbClr val="0D1B2A"/>
            </a:solidFill>
            <a:prstDash val="solid"/>
          </a:ln>
        </p:spPr>
      </p:sp>
      <p:sp>
        <p:nvSpPr>
          <p:cNvPr id="13" name="Text 10">
            <a:extLst>
              <a:ext uri="{FF2B5EF4-FFF2-40B4-BE49-F238E27FC236}">
                <a16:creationId xmlns:a16="http://schemas.microsoft.com/office/drawing/2014/main" id="{677DD5CB-EADD-4276-85BF-72581E713AA2}"/>
              </a:ext>
            </a:extLst>
          </p:cNvPr>
          <p:cNvSpPr/>
          <p:nvPr/>
        </p:nvSpPr>
        <p:spPr>
          <a:xfrm>
            <a:off x="5468112" y="2386584"/>
            <a:ext cx="1097280" cy="347472"/>
          </a:xfrm>
          <a:prstGeom prst="rect">
            <a:avLst/>
          </a:prstGeom>
          <a:noFill/>
          <a:ln/>
        </p:spPr>
        <p:txBody>
          <a:bodyPr wrap="square" lIns="0" tIns="0" rIns="0" bIns="0" rtlCol="0" anchor="ctr"/>
          <a:lstStyle/>
          <a:p>
            <a:pPr marL="0" indent="0">
              <a:buNone/>
            </a:pPr>
            <a:r>
              <a:rPr lang="en-US" sz="1800" b="1" dirty="0">
                <a:solidFill>
                  <a:srgbClr val="0D1B2A"/>
                </a:solidFill>
                <a:latin typeface="Calibri" pitchFamily="34" charset="0"/>
                <a:ea typeface="Calibri" pitchFamily="34" charset="-122"/>
                <a:cs typeface="Calibri" pitchFamily="34" charset="-120"/>
              </a:rPr>
              <a:t>4500C</a:t>
            </a:r>
            <a:endParaRPr lang="en-US" sz="1800" dirty="0"/>
          </a:p>
        </p:txBody>
      </p:sp>
      <p:sp>
        <p:nvSpPr>
          <p:cNvPr id="14" name="Text 11">
            <a:extLst>
              <a:ext uri="{FF2B5EF4-FFF2-40B4-BE49-F238E27FC236}">
                <a16:creationId xmlns:a16="http://schemas.microsoft.com/office/drawing/2014/main" id="{C62E1395-E863-4EA7-AE65-078AA2B5DAF5}"/>
              </a:ext>
            </a:extLst>
          </p:cNvPr>
          <p:cNvSpPr/>
          <p:nvPr/>
        </p:nvSpPr>
        <p:spPr>
          <a:xfrm>
            <a:off x="6583680" y="2386584"/>
            <a:ext cx="2011680" cy="347472"/>
          </a:xfrm>
          <a:prstGeom prst="rect">
            <a:avLst/>
          </a:prstGeom>
          <a:noFill/>
          <a:ln/>
        </p:spPr>
        <p:txBody>
          <a:bodyPr wrap="square" lIns="0" tIns="0" rIns="0" bIns="0"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₦19.58B</a:t>
            </a:r>
            <a:endParaRPr lang="en-US" sz="1600" dirty="0"/>
          </a:p>
        </p:txBody>
      </p:sp>
      <p:sp>
        <p:nvSpPr>
          <p:cNvPr id="15" name="Text 12">
            <a:extLst>
              <a:ext uri="{FF2B5EF4-FFF2-40B4-BE49-F238E27FC236}">
                <a16:creationId xmlns:a16="http://schemas.microsoft.com/office/drawing/2014/main" id="{394DC0B9-100F-4F94-98D6-B49AF2DBD500}"/>
              </a:ext>
            </a:extLst>
          </p:cNvPr>
          <p:cNvSpPr/>
          <p:nvPr/>
        </p:nvSpPr>
        <p:spPr>
          <a:xfrm>
            <a:off x="5468112" y="2834640"/>
            <a:ext cx="3200400" cy="25603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23.0%  |  Strong 2nd place performer</a:t>
            </a:r>
            <a:endParaRPr lang="en-US" sz="1000" dirty="0"/>
          </a:p>
        </p:txBody>
      </p:sp>
      <p:sp>
        <p:nvSpPr>
          <p:cNvPr id="16" name="Shape 13">
            <a:extLst>
              <a:ext uri="{FF2B5EF4-FFF2-40B4-BE49-F238E27FC236}">
                <a16:creationId xmlns:a16="http://schemas.microsoft.com/office/drawing/2014/main" id="{4CD6D285-8256-4B3A-9B7A-496B7BDD1560}"/>
              </a:ext>
            </a:extLst>
          </p:cNvPr>
          <p:cNvSpPr/>
          <p:nvPr/>
        </p:nvSpPr>
        <p:spPr>
          <a:xfrm>
            <a:off x="5303520" y="3337560"/>
            <a:ext cx="3474720" cy="868680"/>
          </a:xfrm>
          <a:prstGeom prst="rect">
            <a:avLst/>
          </a:prstGeom>
          <a:solidFill>
            <a:srgbClr val="F0F4F8"/>
          </a:solidFill>
          <a:ln w="12700">
            <a:solidFill>
              <a:srgbClr val="E2E8F0"/>
            </a:solidFill>
            <a:prstDash val="solid"/>
          </a:ln>
        </p:spPr>
      </p:sp>
      <p:sp>
        <p:nvSpPr>
          <p:cNvPr id="17" name="Shape 14">
            <a:extLst>
              <a:ext uri="{FF2B5EF4-FFF2-40B4-BE49-F238E27FC236}">
                <a16:creationId xmlns:a16="http://schemas.microsoft.com/office/drawing/2014/main" id="{8EBF245A-B72F-4FE7-8D91-D0132B178ADC}"/>
              </a:ext>
            </a:extLst>
          </p:cNvPr>
          <p:cNvSpPr/>
          <p:nvPr/>
        </p:nvSpPr>
        <p:spPr>
          <a:xfrm>
            <a:off x="5303520" y="3337560"/>
            <a:ext cx="73152" cy="868680"/>
          </a:xfrm>
          <a:prstGeom prst="rect">
            <a:avLst/>
          </a:prstGeom>
          <a:solidFill>
            <a:srgbClr val="FF6B35"/>
          </a:solidFill>
          <a:ln w="12700">
            <a:solidFill>
              <a:srgbClr val="FF6B35"/>
            </a:solidFill>
            <a:prstDash val="solid"/>
          </a:ln>
        </p:spPr>
      </p:sp>
      <p:sp>
        <p:nvSpPr>
          <p:cNvPr id="18" name="Text 15">
            <a:extLst>
              <a:ext uri="{FF2B5EF4-FFF2-40B4-BE49-F238E27FC236}">
                <a16:creationId xmlns:a16="http://schemas.microsoft.com/office/drawing/2014/main" id="{CF081106-25CE-43A7-8365-4663CCF93CB9}"/>
              </a:ext>
            </a:extLst>
          </p:cNvPr>
          <p:cNvSpPr/>
          <p:nvPr/>
        </p:nvSpPr>
        <p:spPr>
          <a:xfrm>
            <a:off x="5468112" y="3392424"/>
            <a:ext cx="1097280" cy="347472"/>
          </a:xfrm>
          <a:prstGeom prst="rect">
            <a:avLst/>
          </a:prstGeom>
          <a:noFill/>
          <a:ln/>
        </p:spPr>
        <p:txBody>
          <a:bodyPr wrap="square" lIns="0" tIns="0" rIns="0" bIns="0" rtlCol="0" anchor="ctr"/>
          <a:lstStyle/>
          <a:p>
            <a:pPr marL="0" indent="0">
              <a:buNone/>
            </a:pPr>
            <a:r>
              <a:rPr lang="en-US" sz="1800" b="1" dirty="0">
                <a:solidFill>
                  <a:srgbClr val="FF6B35"/>
                </a:solidFill>
                <a:latin typeface="Calibri" pitchFamily="34" charset="0"/>
                <a:ea typeface="Calibri" pitchFamily="34" charset="-122"/>
                <a:cs typeface="Calibri" pitchFamily="34" charset="-120"/>
              </a:rPr>
              <a:t>2500C</a:t>
            </a:r>
            <a:endParaRPr lang="en-US" sz="1800" dirty="0"/>
          </a:p>
        </p:txBody>
      </p:sp>
      <p:sp>
        <p:nvSpPr>
          <p:cNvPr id="19" name="Text 16">
            <a:extLst>
              <a:ext uri="{FF2B5EF4-FFF2-40B4-BE49-F238E27FC236}">
                <a16:creationId xmlns:a16="http://schemas.microsoft.com/office/drawing/2014/main" id="{AE8D214B-5D4A-41DB-BD90-C266F9DE312F}"/>
              </a:ext>
            </a:extLst>
          </p:cNvPr>
          <p:cNvSpPr/>
          <p:nvPr/>
        </p:nvSpPr>
        <p:spPr>
          <a:xfrm>
            <a:off x="6583680" y="3392424"/>
            <a:ext cx="2011680" cy="347472"/>
          </a:xfrm>
          <a:prstGeom prst="rect">
            <a:avLst/>
          </a:prstGeom>
          <a:noFill/>
          <a:ln/>
        </p:spPr>
        <p:txBody>
          <a:bodyPr wrap="square" lIns="0" tIns="0" rIns="0" bIns="0"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₦8.95B</a:t>
            </a:r>
            <a:endParaRPr lang="en-US" sz="1600" dirty="0"/>
          </a:p>
        </p:txBody>
      </p:sp>
      <p:sp>
        <p:nvSpPr>
          <p:cNvPr id="20" name="Text 17">
            <a:extLst>
              <a:ext uri="{FF2B5EF4-FFF2-40B4-BE49-F238E27FC236}">
                <a16:creationId xmlns:a16="http://schemas.microsoft.com/office/drawing/2014/main" id="{C75C33F8-71A6-44B2-B41F-9CBB7D8D1EA4}"/>
              </a:ext>
            </a:extLst>
          </p:cNvPr>
          <p:cNvSpPr/>
          <p:nvPr/>
        </p:nvSpPr>
        <p:spPr>
          <a:xfrm>
            <a:off x="5468112" y="3840480"/>
            <a:ext cx="3200400" cy="256032"/>
          </a:xfrm>
          <a:prstGeom prst="rect">
            <a:avLst/>
          </a:prstGeom>
          <a:noFill/>
          <a:ln/>
        </p:spPr>
        <p:txBody>
          <a:bodyPr wrap="square" lIns="0" tIns="0" rIns="0" bIns="0" rtlCol="0" anchor="ctr"/>
          <a:lstStyle/>
          <a:p>
            <a:pPr marL="0" indent="0">
              <a:buNone/>
            </a:pPr>
            <a:r>
              <a:rPr lang="en-US" sz="1000" dirty="0">
                <a:solidFill>
                  <a:srgbClr val="718096"/>
                </a:solidFill>
                <a:latin typeface="Calibri" pitchFamily="34" charset="0"/>
                <a:ea typeface="Calibri" pitchFamily="34" charset="-122"/>
                <a:cs typeface="Calibri" pitchFamily="34" charset="-120"/>
              </a:rPr>
              <a:t>10.5%  |  Copier sale category leader</a:t>
            </a:r>
            <a:endParaRPr lang="en-US" sz="1000" dirty="0"/>
          </a:p>
        </p:txBody>
      </p:sp>
      <p:sp>
        <p:nvSpPr>
          <p:cNvPr id="21" name="Shape 18">
            <a:extLst>
              <a:ext uri="{FF2B5EF4-FFF2-40B4-BE49-F238E27FC236}">
                <a16:creationId xmlns:a16="http://schemas.microsoft.com/office/drawing/2014/main" id="{CDDE650C-F931-4756-8FBF-55F68345B9F7}"/>
              </a:ext>
            </a:extLst>
          </p:cNvPr>
          <p:cNvSpPr/>
          <p:nvPr/>
        </p:nvSpPr>
        <p:spPr>
          <a:xfrm>
            <a:off x="5303520" y="4343400"/>
            <a:ext cx="3474720" cy="594360"/>
          </a:xfrm>
          <a:prstGeom prst="rect">
            <a:avLst/>
          </a:prstGeom>
          <a:solidFill>
            <a:srgbClr val="E1F5EE"/>
          </a:solidFill>
          <a:ln w="12700">
            <a:solidFill>
              <a:srgbClr val="1B998B"/>
            </a:solidFill>
            <a:prstDash val="solid"/>
          </a:ln>
        </p:spPr>
      </p:sp>
      <p:sp>
        <p:nvSpPr>
          <p:cNvPr id="22" name="Text 19">
            <a:extLst>
              <a:ext uri="{FF2B5EF4-FFF2-40B4-BE49-F238E27FC236}">
                <a16:creationId xmlns:a16="http://schemas.microsoft.com/office/drawing/2014/main" id="{3D663684-1F5E-4003-B4D8-10AF0E7B8101}"/>
              </a:ext>
            </a:extLst>
          </p:cNvPr>
          <p:cNvSpPr/>
          <p:nvPr/>
        </p:nvSpPr>
        <p:spPr>
          <a:xfrm>
            <a:off x="5440680" y="4370832"/>
            <a:ext cx="3246120" cy="530352"/>
          </a:xfrm>
          <a:prstGeom prst="rect">
            <a:avLst/>
          </a:prstGeom>
          <a:noFill/>
          <a:ln/>
        </p:spPr>
        <p:txBody>
          <a:bodyPr wrap="square" lIns="0" tIns="0" rIns="0" bIns="0" rtlCol="0" anchor="ctr"/>
          <a:lstStyle/>
          <a:p>
            <a:pPr marL="0" indent="0">
              <a:buNone/>
            </a:pPr>
            <a:r>
              <a:rPr lang="en-US" sz="1000" dirty="0">
                <a:solidFill>
                  <a:srgbClr val="085041"/>
                </a:solidFill>
                <a:latin typeface="Calibri" pitchFamily="34" charset="0"/>
                <a:ea typeface="Calibri" pitchFamily="34" charset="-122"/>
                <a:cs typeface="Calibri" pitchFamily="34" charset="-120"/>
              </a:rPr>
              <a:t>💡  Model 3002P alone generates 35.5% of all revenue. Stock and distribution must be protected at all times.</a:t>
            </a:r>
            <a:endParaRPr lang="en-US" sz="1000" dirty="0"/>
          </a:p>
        </p:txBody>
      </p:sp>
    </p:spTree>
    <p:extLst>
      <p:ext uri="{BB962C8B-B14F-4D97-AF65-F5344CB8AC3E}">
        <p14:creationId xmlns:p14="http://schemas.microsoft.com/office/powerpoint/2010/main" val="575491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RECOMMENDATIONS</a:t>
            </a:r>
            <a:endParaRPr lang="en-US" sz="2000" dirty="0"/>
          </a:p>
        </p:txBody>
      </p:sp>
      <p:sp>
        <p:nvSpPr>
          <p:cNvPr id="4" name="Shape 2"/>
          <p:cNvSpPr/>
          <p:nvPr/>
        </p:nvSpPr>
        <p:spPr>
          <a:xfrm>
            <a:off x="228600" y="777240"/>
            <a:ext cx="2834640" cy="1965960"/>
          </a:xfrm>
          <a:prstGeom prst="rect">
            <a:avLst/>
          </a:prstGeom>
          <a:solidFill>
            <a:srgbClr val="F0F4F8"/>
          </a:solidFill>
          <a:ln w="12700">
            <a:solidFill>
              <a:srgbClr val="E2E8F0"/>
            </a:solidFill>
            <a:prstDash val="solid"/>
          </a:ln>
        </p:spPr>
      </p:sp>
      <p:sp>
        <p:nvSpPr>
          <p:cNvPr id="5" name="Shape 3"/>
          <p:cNvSpPr/>
          <p:nvPr/>
        </p:nvSpPr>
        <p:spPr>
          <a:xfrm>
            <a:off x="228600" y="777240"/>
            <a:ext cx="2834640" cy="64008"/>
          </a:xfrm>
          <a:prstGeom prst="rect">
            <a:avLst/>
          </a:prstGeom>
          <a:solidFill>
            <a:srgbClr val="FF6B35"/>
          </a:solidFill>
          <a:ln w="12700">
            <a:solidFill>
              <a:srgbClr val="FF6B35"/>
            </a:solidFill>
            <a:prstDash val="solid"/>
          </a:ln>
        </p:spPr>
      </p:sp>
      <p:sp>
        <p:nvSpPr>
          <p:cNvPr id="6" name="Text 4"/>
          <p:cNvSpPr/>
          <p:nvPr/>
        </p:nvSpPr>
        <p:spPr>
          <a:xfrm>
            <a:off x="338328" y="914400"/>
            <a:ext cx="457200" cy="411480"/>
          </a:xfrm>
          <a:prstGeom prst="rect">
            <a:avLst/>
          </a:prstGeom>
          <a:noFill/>
          <a:ln/>
        </p:spPr>
        <p:txBody>
          <a:bodyPr wrap="square" lIns="0" tIns="0" rIns="0" bIns="0" rtlCol="0" anchor="ctr"/>
          <a:lstStyle/>
          <a:p>
            <a:pPr marL="0" indent="0">
              <a:buNone/>
            </a:pPr>
            <a:r>
              <a:rPr lang="en-US" sz="2000" b="1" dirty="0">
                <a:solidFill>
                  <a:srgbClr val="FF6B35"/>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338328" y="1325880"/>
            <a:ext cx="260604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Invest in North Central</a:t>
            </a:r>
            <a:endParaRPr lang="en-US" sz="1200" dirty="0"/>
          </a:p>
        </p:txBody>
      </p:sp>
      <p:sp>
        <p:nvSpPr>
          <p:cNvPr id="8" name="Text 6"/>
          <p:cNvSpPr/>
          <p:nvPr/>
        </p:nvSpPr>
        <p:spPr>
          <a:xfrm>
            <a:off x="338328" y="1691640"/>
            <a:ext cx="2606040" cy="96012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At ₦7.53B, North Central earns nearly 3x less than North East. Launch region-specific promotions, assign dedicated sales teams, and reallocate inventory to close the performance gap. Identify whether the issue is distribution, pricing, or low market penetration.</a:t>
            </a:r>
            <a:endParaRPr lang="en-US" sz="1000" dirty="0"/>
          </a:p>
        </p:txBody>
      </p:sp>
      <p:sp>
        <p:nvSpPr>
          <p:cNvPr id="9" name="Shape 7"/>
          <p:cNvSpPr/>
          <p:nvPr/>
        </p:nvSpPr>
        <p:spPr>
          <a:xfrm>
            <a:off x="3246120" y="777240"/>
            <a:ext cx="2834640" cy="1965960"/>
          </a:xfrm>
          <a:prstGeom prst="rect">
            <a:avLst/>
          </a:prstGeom>
          <a:solidFill>
            <a:srgbClr val="F0F4F8"/>
          </a:solidFill>
          <a:ln w="12700">
            <a:solidFill>
              <a:srgbClr val="E2E8F0"/>
            </a:solidFill>
            <a:prstDash val="solid"/>
          </a:ln>
        </p:spPr>
      </p:sp>
      <p:sp>
        <p:nvSpPr>
          <p:cNvPr id="10" name="Shape 8"/>
          <p:cNvSpPr/>
          <p:nvPr/>
        </p:nvSpPr>
        <p:spPr>
          <a:xfrm>
            <a:off x="3246120" y="777240"/>
            <a:ext cx="2834640" cy="64008"/>
          </a:xfrm>
          <a:prstGeom prst="rect">
            <a:avLst/>
          </a:prstGeom>
          <a:solidFill>
            <a:srgbClr val="1B998B"/>
          </a:solidFill>
          <a:ln w="12700">
            <a:solidFill>
              <a:srgbClr val="1B998B"/>
            </a:solidFill>
            <a:prstDash val="solid"/>
          </a:ln>
        </p:spPr>
      </p:sp>
      <p:sp>
        <p:nvSpPr>
          <p:cNvPr id="11" name="Text 9"/>
          <p:cNvSpPr/>
          <p:nvPr/>
        </p:nvSpPr>
        <p:spPr>
          <a:xfrm>
            <a:off x="3355848" y="914400"/>
            <a:ext cx="457200" cy="411480"/>
          </a:xfrm>
          <a:prstGeom prst="rect">
            <a:avLst/>
          </a:prstGeom>
          <a:noFill/>
          <a:ln/>
        </p:spPr>
        <p:txBody>
          <a:bodyPr wrap="square" lIns="0" tIns="0" rIns="0" bIns="0" rtlCol="0" anchor="ctr"/>
          <a:lstStyle/>
          <a:p>
            <a:pPr marL="0" indent="0">
              <a:buNone/>
            </a:pPr>
            <a:r>
              <a:rPr lang="en-US" sz="2000" b="1" dirty="0">
                <a:solidFill>
                  <a:srgbClr val="1B998B"/>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3355848" y="1325880"/>
            <a:ext cx="260604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Double down on Service Plan</a:t>
            </a:r>
            <a:endParaRPr lang="en-US" sz="1200" dirty="0"/>
          </a:p>
        </p:txBody>
      </p:sp>
      <p:sp>
        <p:nvSpPr>
          <p:cNvPr id="13" name="Text 11"/>
          <p:cNvSpPr/>
          <p:nvPr/>
        </p:nvSpPr>
        <p:spPr>
          <a:xfrm>
            <a:off x="3355848" y="1691640"/>
            <a:ext cx="2606040" cy="96012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Service Plan drives 70.8% of revenue (₦60.31B) — the single most valuable line of business. Increase attach rates by bundling service plans at every hardware sale point. A 10% uplift in penetration could add billions in recurring, predictable revenue.</a:t>
            </a:r>
            <a:endParaRPr lang="en-US" sz="1000" dirty="0"/>
          </a:p>
        </p:txBody>
      </p:sp>
      <p:sp>
        <p:nvSpPr>
          <p:cNvPr id="14" name="Shape 12"/>
          <p:cNvSpPr/>
          <p:nvPr/>
        </p:nvSpPr>
        <p:spPr>
          <a:xfrm>
            <a:off x="6263640" y="777240"/>
            <a:ext cx="2834640" cy="1965960"/>
          </a:xfrm>
          <a:prstGeom prst="rect">
            <a:avLst/>
          </a:prstGeom>
          <a:solidFill>
            <a:srgbClr val="F0F4F8"/>
          </a:solidFill>
          <a:ln w="12700">
            <a:solidFill>
              <a:srgbClr val="E2E8F0"/>
            </a:solidFill>
            <a:prstDash val="solid"/>
          </a:ln>
        </p:spPr>
      </p:sp>
      <p:sp>
        <p:nvSpPr>
          <p:cNvPr id="15" name="Shape 13"/>
          <p:cNvSpPr/>
          <p:nvPr/>
        </p:nvSpPr>
        <p:spPr>
          <a:xfrm>
            <a:off x="6263640" y="777240"/>
            <a:ext cx="2834640" cy="64008"/>
          </a:xfrm>
          <a:prstGeom prst="rect">
            <a:avLst/>
          </a:prstGeom>
          <a:solidFill>
            <a:srgbClr val="8E44AD"/>
          </a:solidFill>
          <a:ln w="12700">
            <a:solidFill>
              <a:srgbClr val="8E44AD"/>
            </a:solidFill>
            <a:prstDash val="solid"/>
          </a:ln>
        </p:spPr>
      </p:sp>
      <p:sp>
        <p:nvSpPr>
          <p:cNvPr id="16" name="Text 14"/>
          <p:cNvSpPr/>
          <p:nvPr/>
        </p:nvSpPr>
        <p:spPr>
          <a:xfrm>
            <a:off x="6373368" y="914400"/>
            <a:ext cx="457200" cy="411480"/>
          </a:xfrm>
          <a:prstGeom prst="rect">
            <a:avLst/>
          </a:prstGeom>
          <a:noFill/>
          <a:ln/>
        </p:spPr>
        <p:txBody>
          <a:bodyPr wrap="square" lIns="0" tIns="0" rIns="0" bIns="0" rtlCol="0" anchor="ctr"/>
          <a:lstStyle/>
          <a:p>
            <a:pPr marL="0" indent="0">
              <a:buNone/>
            </a:pPr>
            <a:r>
              <a:rPr lang="en-US" sz="2000" b="1" dirty="0">
                <a:solidFill>
                  <a:srgbClr val="8E44AD"/>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6373368" y="1325880"/>
            <a:ext cx="260604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Prioritise Model 3002P</a:t>
            </a:r>
            <a:endParaRPr lang="en-US" sz="1200" dirty="0"/>
          </a:p>
        </p:txBody>
      </p:sp>
      <p:sp>
        <p:nvSpPr>
          <p:cNvPr id="18" name="Text 16"/>
          <p:cNvSpPr/>
          <p:nvPr/>
        </p:nvSpPr>
        <p:spPr>
          <a:xfrm>
            <a:off x="6373368" y="1691640"/>
            <a:ext cx="2606040" cy="96012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Model 3002P generated ₦30.20B — 35% of all product revenue. Guarantee consistent stock across all 6 regions, especially top markets. Run an upsell programme targeting customers on lower-value models (2500P) to trade up to premium models like 5001P.</a:t>
            </a:r>
            <a:endParaRPr lang="en-US" sz="1000" dirty="0"/>
          </a:p>
        </p:txBody>
      </p:sp>
      <p:sp>
        <p:nvSpPr>
          <p:cNvPr id="19" name="Shape 17"/>
          <p:cNvSpPr/>
          <p:nvPr/>
        </p:nvSpPr>
        <p:spPr>
          <a:xfrm>
            <a:off x="228600" y="2880360"/>
            <a:ext cx="2834640" cy="1965960"/>
          </a:xfrm>
          <a:prstGeom prst="rect">
            <a:avLst/>
          </a:prstGeom>
          <a:solidFill>
            <a:srgbClr val="F0F4F8"/>
          </a:solidFill>
          <a:ln w="12700">
            <a:solidFill>
              <a:srgbClr val="E2E8F0"/>
            </a:solidFill>
            <a:prstDash val="solid"/>
          </a:ln>
        </p:spPr>
      </p:sp>
      <p:sp>
        <p:nvSpPr>
          <p:cNvPr id="20" name="Shape 18"/>
          <p:cNvSpPr/>
          <p:nvPr/>
        </p:nvSpPr>
        <p:spPr>
          <a:xfrm>
            <a:off x="228600" y="2880360"/>
            <a:ext cx="2834640" cy="64008"/>
          </a:xfrm>
          <a:prstGeom prst="rect">
            <a:avLst/>
          </a:prstGeom>
          <a:solidFill>
            <a:srgbClr val="E67E22"/>
          </a:solidFill>
          <a:ln w="12700">
            <a:solidFill>
              <a:srgbClr val="E67E22"/>
            </a:solidFill>
            <a:prstDash val="solid"/>
          </a:ln>
        </p:spPr>
      </p:sp>
      <p:sp>
        <p:nvSpPr>
          <p:cNvPr id="21" name="Text 19"/>
          <p:cNvSpPr/>
          <p:nvPr/>
        </p:nvSpPr>
        <p:spPr>
          <a:xfrm>
            <a:off x="338328" y="3017520"/>
            <a:ext cx="457200" cy="411480"/>
          </a:xfrm>
          <a:prstGeom prst="rect">
            <a:avLst/>
          </a:prstGeom>
          <a:noFill/>
          <a:ln/>
        </p:spPr>
        <p:txBody>
          <a:bodyPr wrap="square" lIns="0" tIns="0" rIns="0" bIns="0" rtlCol="0" anchor="ctr"/>
          <a:lstStyle/>
          <a:p>
            <a:pPr marL="0" indent="0">
              <a:buNone/>
            </a:pPr>
            <a:r>
              <a:rPr lang="en-US" sz="2000" b="1" dirty="0">
                <a:solidFill>
                  <a:srgbClr val="E67E22"/>
                </a:solidFill>
                <a:latin typeface="Calibri" pitchFamily="34" charset="0"/>
                <a:ea typeface="Calibri" pitchFamily="34" charset="-122"/>
                <a:cs typeface="Calibri" pitchFamily="34" charset="-120"/>
              </a:rPr>
              <a:t>04</a:t>
            </a:r>
            <a:endParaRPr lang="en-US" sz="2000" dirty="0"/>
          </a:p>
        </p:txBody>
      </p:sp>
      <p:sp>
        <p:nvSpPr>
          <p:cNvPr id="22" name="Text 20"/>
          <p:cNvSpPr/>
          <p:nvPr/>
        </p:nvSpPr>
        <p:spPr>
          <a:xfrm>
            <a:off x="338328" y="3429000"/>
            <a:ext cx="260604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Boost Holiday Sales</a:t>
            </a:r>
            <a:endParaRPr lang="en-US" sz="1200" dirty="0"/>
          </a:p>
        </p:txBody>
      </p:sp>
      <p:sp>
        <p:nvSpPr>
          <p:cNvPr id="23" name="Text 21"/>
          <p:cNvSpPr/>
          <p:nvPr/>
        </p:nvSpPr>
        <p:spPr>
          <a:xfrm>
            <a:off x="338328" y="3794760"/>
            <a:ext cx="2606040" cy="96012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Only 5.2% of revenue comes from non-WorkDays — a major untapped opportunity. Introduce targeted weekend and public holiday promotions, bundle deals, and flexible financing to capture demand on low-performing days and smooth monthly revenue volatility.</a:t>
            </a:r>
            <a:endParaRPr lang="en-US" sz="1000" dirty="0"/>
          </a:p>
        </p:txBody>
      </p:sp>
      <p:sp>
        <p:nvSpPr>
          <p:cNvPr id="24" name="Shape 22"/>
          <p:cNvSpPr/>
          <p:nvPr/>
        </p:nvSpPr>
        <p:spPr>
          <a:xfrm>
            <a:off x="3246120" y="2880360"/>
            <a:ext cx="2834640" cy="1965960"/>
          </a:xfrm>
          <a:prstGeom prst="rect">
            <a:avLst/>
          </a:prstGeom>
          <a:solidFill>
            <a:srgbClr val="F0F4F8"/>
          </a:solidFill>
          <a:ln w="12700">
            <a:solidFill>
              <a:srgbClr val="E2E8F0"/>
            </a:solidFill>
            <a:prstDash val="solid"/>
          </a:ln>
        </p:spPr>
      </p:sp>
      <p:sp>
        <p:nvSpPr>
          <p:cNvPr id="25" name="Shape 23"/>
          <p:cNvSpPr/>
          <p:nvPr/>
        </p:nvSpPr>
        <p:spPr>
          <a:xfrm>
            <a:off x="3246120" y="2880360"/>
            <a:ext cx="2834640" cy="64008"/>
          </a:xfrm>
          <a:prstGeom prst="rect">
            <a:avLst/>
          </a:prstGeom>
          <a:solidFill>
            <a:srgbClr val="2980B9"/>
          </a:solidFill>
          <a:ln w="12700">
            <a:solidFill>
              <a:srgbClr val="2980B9"/>
            </a:solidFill>
            <a:prstDash val="solid"/>
          </a:ln>
        </p:spPr>
      </p:sp>
      <p:sp>
        <p:nvSpPr>
          <p:cNvPr id="26" name="Text 24"/>
          <p:cNvSpPr/>
          <p:nvPr/>
        </p:nvSpPr>
        <p:spPr>
          <a:xfrm>
            <a:off x="3355848" y="3017520"/>
            <a:ext cx="457200" cy="411480"/>
          </a:xfrm>
          <a:prstGeom prst="rect">
            <a:avLst/>
          </a:prstGeom>
          <a:noFill/>
          <a:ln/>
        </p:spPr>
        <p:txBody>
          <a:bodyPr wrap="square" lIns="0" tIns="0" rIns="0" bIns="0" rtlCol="0" anchor="ctr"/>
          <a:lstStyle/>
          <a:p>
            <a:pPr marL="0" indent="0">
              <a:buNone/>
            </a:pPr>
            <a:r>
              <a:rPr lang="en-US" sz="2000" b="1" dirty="0">
                <a:solidFill>
                  <a:srgbClr val="2980B9"/>
                </a:solidFill>
                <a:latin typeface="Calibri" pitchFamily="34" charset="0"/>
                <a:ea typeface="Calibri" pitchFamily="34" charset="-122"/>
                <a:cs typeface="Calibri" pitchFamily="34" charset="-120"/>
              </a:rPr>
              <a:t>05</a:t>
            </a:r>
            <a:endParaRPr lang="en-US" sz="2000" dirty="0"/>
          </a:p>
        </p:txBody>
      </p:sp>
      <p:sp>
        <p:nvSpPr>
          <p:cNvPr id="27" name="Text 25"/>
          <p:cNvSpPr/>
          <p:nvPr/>
        </p:nvSpPr>
        <p:spPr>
          <a:xfrm>
            <a:off x="3355848" y="3429000"/>
            <a:ext cx="260604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Expand Top Markets</a:t>
            </a:r>
            <a:endParaRPr lang="en-US" sz="1200" dirty="0"/>
          </a:p>
        </p:txBody>
      </p:sp>
      <p:sp>
        <p:nvSpPr>
          <p:cNvPr id="28" name="Text 26"/>
          <p:cNvSpPr/>
          <p:nvPr/>
        </p:nvSpPr>
        <p:spPr>
          <a:xfrm>
            <a:off x="3355848" y="3794760"/>
            <a:ext cx="2606040" cy="96012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Ekiti (₦6.47B), Abia (₦5.84B), and Bayelsa (₦4.93B) lead all markets. Prioritise these three for new store openings, increased inventory, and dedicated account managers. Apply the 80/20 rule — the bottom markets should be audited for ROI and restructured.</a:t>
            </a:r>
            <a:endParaRPr lang="en-US" sz="1000" dirty="0"/>
          </a:p>
        </p:txBody>
      </p:sp>
      <p:sp>
        <p:nvSpPr>
          <p:cNvPr id="29" name="Shape 27"/>
          <p:cNvSpPr/>
          <p:nvPr/>
        </p:nvSpPr>
        <p:spPr>
          <a:xfrm>
            <a:off x="6263640" y="2880360"/>
            <a:ext cx="2834640" cy="1965960"/>
          </a:xfrm>
          <a:prstGeom prst="rect">
            <a:avLst/>
          </a:prstGeom>
          <a:solidFill>
            <a:srgbClr val="F0F4F8"/>
          </a:solidFill>
          <a:ln w="12700">
            <a:solidFill>
              <a:srgbClr val="E2E8F0"/>
            </a:solidFill>
            <a:prstDash val="solid"/>
          </a:ln>
        </p:spPr>
      </p:sp>
      <p:sp>
        <p:nvSpPr>
          <p:cNvPr id="30" name="Shape 28"/>
          <p:cNvSpPr/>
          <p:nvPr/>
        </p:nvSpPr>
        <p:spPr>
          <a:xfrm>
            <a:off x="6263640" y="2880360"/>
            <a:ext cx="2834640" cy="64008"/>
          </a:xfrm>
          <a:prstGeom prst="rect">
            <a:avLst/>
          </a:prstGeom>
          <a:solidFill>
            <a:srgbClr val="27AE60"/>
          </a:solidFill>
          <a:ln w="12700">
            <a:solidFill>
              <a:srgbClr val="27AE60"/>
            </a:solidFill>
            <a:prstDash val="solid"/>
          </a:ln>
        </p:spPr>
      </p:sp>
      <p:sp>
        <p:nvSpPr>
          <p:cNvPr id="31" name="Text 29"/>
          <p:cNvSpPr/>
          <p:nvPr/>
        </p:nvSpPr>
        <p:spPr>
          <a:xfrm>
            <a:off x="6373368" y="3017520"/>
            <a:ext cx="457200" cy="411480"/>
          </a:xfrm>
          <a:prstGeom prst="rect">
            <a:avLst/>
          </a:prstGeom>
          <a:noFill/>
          <a:ln/>
        </p:spPr>
        <p:txBody>
          <a:bodyPr wrap="square" lIns="0" tIns="0" rIns="0" bIns="0" rtlCol="0" anchor="ctr"/>
          <a:lstStyle/>
          <a:p>
            <a:pPr marL="0" indent="0">
              <a:buNone/>
            </a:pPr>
            <a:r>
              <a:rPr lang="en-US" sz="2000" b="1" dirty="0">
                <a:solidFill>
                  <a:srgbClr val="27AE60"/>
                </a:solidFill>
                <a:latin typeface="Calibri" pitchFamily="34" charset="0"/>
                <a:ea typeface="Calibri" pitchFamily="34" charset="-122"/>
                <a:cs typeface="Calibri" pitchFamily="34" charset="-120"/>
              </a:rPr>
              <a:t>06</a:t>
            </a:r>
            <a:endParaRPr lang="en-US" sz="2000" dirty="0"/>
          </a:p>
        </p:txBody>
      </p:sp>
      <p:sp>
        <p:nvSpPr>
          <p:cNvPr id="32" name="Text 30"/>
          <p:cNvSpPr/>
          <p:nvPr/>
        </p:nvSpPr>
        <p:spPr>
          <a:xfrm>
            <a:off x="6373368" y="3429000"/>
            <a:ext cx="2606040" cy="34747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Replicate North East Success</a:t>
            </a:r>
            <a:endParaRPr lang="en-US" sz="1200" dirty="0"/>
          </a:p>
        </p:txBody>
      </p:sp>
      <p:sp>
        <p:nvSpPr>
          <p:cNvPr id="33" name="Text 31"/>
          <p:cNvSpPr/>
          <p:nvPr/>
        </p:nvSpPr>
        <p:spPr>
          <a:xfrm>
            <a:off x="6373368" y="3794760"/>
            <a:ext cx="2606040" cy="96012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North East leads at ₦21.69B. Document the exact drivers — store count, product mix, team structure, and local pricing — then build a regional playbook to systematically replicate this model in South South, North West, and North Central.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B998B"/>
          </a:solidFill>
          <a:ln w="12700">
            <a:solidFill>
              <a:srgbClr val="1B998B"/>
            </a:solidFill>
            <a:prstDash val="solid"/>
          </a:ln>
        </p:spPr>
      </p:sp>
      <p:sp>
        <p:nvSpPr>
          <p:cNvPr id="3" name="Shape 1"/>
          <p:cNvSpPr/>
          <p:nvPr/>
        </p:nvSpPr>
        <p:spPr>
          <a:xfrm>
            <a:off x="0" y="5070348"/>
            <a:ext cx="9144000" cy="73152"/>
          </a:xfrm>
          <a:prstGeom prst="rect">
            <a:avLst/>
          </a:prstGeom>
          <a:solidFill>
            <a:srgbClr val="1B998B"/>
          </a:solidFill>
          <a:ln w="12700">
            <a:solidFill>
              <a:srgbClr val="1B998B"/>
            </a:solidFill>
            <a:prstDash val="solid"/>
          </a:ln>
        </p:spPr>
      </p:sp>
      <p:sp>
        <p:nvSpPr>
          <p:cNvPr id="4" name="Text 2"/>
          <p:cNvSpPr/>
          <p:nvPr/>
        </p:nvSpPr>
        <p:spPr>
          <a:xfrm>
            <a:off x="457200" y="228600"/>
            <a:ext cx="8229600" cy="5029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CONCLUSION</a:t>
            </a:r>
            <a:endParaRPr lang="en-US" sz="2400" dirty="0"/>
          </a:p>
        </p:txBody>
      </p:sp>
      <p:sp>
        <p:nvSpPr>
          <p:cNvPr id="5" name="Text 3"/>
          <p:cNvSpPr/>
          <p:nvPr/>
        </p:nvSpPr>
        <p:spPr>
          <a:xfrm>
            <a:off x="457200" y="822960"/>
            <a:ext cx="8229600" cy="822960"/>
          </a:xfrm>
          <a:prstGeom prst="rect">
            <a:avLst/>
          </a:prstGeom>
          <a:noFill/>
          <a:ln/>
        </p:spPr>
        <p:txBody>
          <a:bodyPr wrap="square" lIns="0" tIns="0" rIns="0" bIns="0" rtlCol="0" anchor="ctr"/>
          <a:lstStyle/>
          <a:p>
            <a:pPr marL="0" indent="0" algn="just">
              <a:buNone/>
            </a:pPr>
            <a:r>
              <a:rPr lang="en-US" sz="1300" dirty="0">
                <a:solidFill>
                  <a:srgbClr val="E8F4F3"/>
                </a:solidFill>
                <a:latin typeface="Calibri" pitchFamily="34" charset="0"/>
                <a:ea typeface="Calibri" pitchFamily="34" charset="-122"/>
                <a:cs typeface="Calibri" pitchFamily="34" charset="-120"/>
              </a:rPr>
              <a:t>After reviewing 35,957 transactions across Nigeria from 2014 to 2015, four strategic imperatives emerge clearly. Total revenue of ₦85.13B and 917,211 units sold confirm a high-volume operation — but with significant untapped growth potential in weaker regions, non-workdays, and underpenetrated product lines.</a:t>
            </a:r>
            <a:endParaRPr lang="en-US" sz="1300" dirty="0"/>
          </a:p>
        </p:txBody>
      </p:sp>
      <p:sp>
        <p:nvSpPr>
          <p:cNvPr id="6" name="Shape 4"/>
          <p:cNvSpPr/>
          <p:nvPr/>
        </p:nvSpPr>
        <p:spPr>
          <a:xfrm>
            <a:off x="320040" y="1783080"/>
            <a:ext cx="4206240" cy="1261872"/>
          </a:xfrm>
          <a:prstGeom prst="rect">
            <a:avLst/>
          </a:prstGeom>
          <a:solidFill>
            <a:srgbClr val="182531"/>
          </a:solidFill>
          <a:ln/>
        </p:spPr>
      </p:sp>
      <p:sp>
        <p:nvSpPr>
          <p:cNvPr id="7" name="Shape 5"/>
          <p:cNvSpPr/>
          <p:nvPr/>
        </p:nvSpPr>
        <p:spPr>
          <a:xfrm>
            <a:off x="320040" y="1783080"/>
            <a:ext cx="73152" cy="1261872"/>
          </a:xfrm>
          <a:prstGeom prst="rect">
            <a:avLst/>
          </a:prstGeom>
          <a:solidFill>
            <a:srgbClr val="1B998B"/>
          </a:solidFill>
          <a:ln w="12700">
            <a:solidFill>
              <a:srgbClr val="1B998B"/>
            </a:solidFill>
            <a:prstDash val="solid"/>
          </a:ln>
        </p:spPr>
      </p:sp>
      <p:sp>
        <p:nvSpPr>
          <p:cNvPr id="8" name="Text 6"/>
          <p:cNvSpPr/>
          <p:nvPr/>
        </p:nvSpPr>
        <p:spPr>
          <a:xfrm>
            <a:off x="502920" y="1874520"/>
            <a:ext cx="3931920" cy="365760"/>
          </a:xfrm>
          <a:prstGeom prst="rect">
            <a:avLst/>
          </a:prstGeom>
          <a:noFill/>
          <a:ln/>
        </p:spPr>
        <p:txBody>
          <a:bodyPr wrap="square" lIns="0" tIns="0" rIns="0" bIns="0" rtlCol="0" anchor="ctr"/>
          <a:lstStyle/>
          <a:p>
            <a:pPr marL="0" indent="0">
              <a:buNone/>
            </a:pPr>
            <a:r>
              <a:rPr lang="en-US" sz="1200" b="1" dirty="0">
                <a:solidFill>
                  <a:srgbClr val="4FFFEF"/>
                </a:solidFill>
                <a:latin typeface="Calibri" pitchFamily="34" charset="0"/>
                <a:ea typeface="Calibri" pitchFamily="34" charset="-122"/>
                <a:cs typeface="Calibri" pitchFamily="34" charset="-120"/>
              </a:rPr>
              <a:t>01. Concentration Risk — Diversify Regions</a:t>
            </a:r>
            <a:endParaRPr lang="en-US" sz="1200" dirty="0"/>
          </a:p>
        </p:txBody>
      </p:sp>
      <p:sp>
        <p:nvSpPr>
          <p:cNvPr id="9" name="Text 7"/>
          <p:cNvSpPr/>
          <p:nvPr/>
        </p:nvSpPr>
        <p:spPr>
          <a:xfrm>
            <a:off x="502920" y="2258568"/>
            <a:ext cx="3931920" cy="685800"/>
          </a:xfrm>
          <a:prstGeom prst="rect">
            <a:avLst/>
          </a:prstGeom>
          <a:noFill/>
          <a:ln/>
        </p:spPr>
        <p:txBody>
          <a:bodyPr wrap="square" lIns="0" tIns="0" rIns="0" bIns="0" rtlCol="0" anchor="ctr"/>
          <a:lstStyle/>
          <a:p>
            <a:pPr marL="0" indent="0">
              <a:buNone/>
            </a:pPr>
            <a:r>
              <a:rPr lang="en-US" sz="1000" dirty="0">
                <a:solidFill>
                  <a:srgbClr val="E8F4F3"/>
                </a:solidFill>
                <a:latin typeface="Calibri" pitchFamily="34" charset="0"/>
                <a:ea typeface="Calibri" pitchFamily="34" charset="-122"/>
                <a:cs typeface="Calibri" pitchFamily="34" charset="-120"/>
              </a:rPr>
              <a:t>North East leads at ₦21.69B — nearly 3x North Central (₦7.53B). Revenue is heavily concentrated in a few regions, markets, and stores. Diversification across underperforming zones is both a risk management and growth strategy that must be prioritised.</a:t>
            </a:r>
            <a:endParaRPr lang="en-US" sz="1000" dirty="0"/>
          </a:p>
        </p:txBody>
      </p:sp>
      <p:sp>
        <p:nvSpPr>
          <p:cNvPr id="10" name="Shape 8"/>
          <p:cNvSpPr/>
          <p:nvPr/>
        </p:nvSpPr>
        <p:spPr>
          <a:xfrm>
            <a:off x="320040" y="3246120"/>
            <a:ext cx="4206240" cy="1261872"/>
          </a:xfrm>
          <a:prstGeom prst="rect">
            <a:avLst/>
          </a:prstGeom>
          <a:solidFill>
            <a:srgbClr val="182531"/>
          </a:solidFill>
          <a:ln/>
        </p:spPr>
      </p:sp>
      <p:sp>
        <p:nvSpPr>
          <p:cNvPr id="11" name="Shape 9"/>
          <p:cNvSpPr/>
          <p:nvPr/>
        </p:nvSpPr>
        <p:spPr>
          <a:xfrm>
            <a:off x="320040" y="3246120"/>
            <a:ext cx="73152" cy="1261872"/>
          </a:xfrm>
          <a:prstGeom prst="rect">
            <a:avLst/>
          </a:prstGeom>
          <a:solidFill>
            <a:srgbClr val="1B998B"/>
          </a:solidFill>
          <a:ln w="12700">
            <a:solidFill>
              <a:srgbClr val="1B998B"/>
            </a:solidFill>
            <a:prstDash val="solid"/>
          </a:ln>
        </p:spPr>
      </p:sp>
      <p:sp>
        <p:nvSpPr>
          <p:cNvPr id="12" name="Text 10"/>
          <p:cNvSpPr/>
          <p:nvPr/>
        </p:nvSpPr>
        <p:spPr>
          <a:xfrm>
            <a:off x="502920" y="3337560"/>
            <a:ext cx="3931920" cy="365760"/>
          </a:xfrm>
          <a:prstGeom prst="rect">
            <a:avLst/>
          </a:prstGeom>
          <a:noFill/>
          <a:ln/>
        </p:spPr>
        <p:txBody>
          <a:bodyPr wrap="square" lIns="0" tIns="0" rIns="0" bIns="0" rtlCol="0" anchor="ctr"/>
          <a:lstStyle/>
          <a:p>
            <a:pPr marL="0" indent="0">
              <a:buNone/>
            </a:pPr>
            <a:r>
              <a:rPr lang="en-US" sz="1200" b="1" dirty="0">
                <a:solidFill>
                  <a:srgbClr val="4FFFEF"/>
                </a:solidFill>
                <a:latin typeface="Calibri" pitchFamily="34" charset="0"/>
                <a:ea typeface="Calibri" pitchFamily="34" charset="-122"/>
                <a:cs typeface="Calibri" pitchFamily="34" charset="-120"/>
              </a:rPr>
              <a:t>02. Service Revenue — Your Greatest Asset</a:t>
            </a:r>
            <a:endParaRPr lang="en-US" sz="1200" dirty="0"/>
          </a:p>
        </p:txBody>
      </p:sp>
      <p:sp>
        <p:nvSpPr>
          <p:cNvPr id="13" name="Text 11"/>
          <p:cNvSpPr/>
          <p:nvPr/>
        </p:nvSpPr>
        <p:spPr>
          <a:xfrm>
            <a:off x="502920" y="3721608"/>
            <a:ext cx="3931920" cy="685800"/>
          </a:xfrm>
          <a:prstGeom prst="rect">
            <a:avLst/>
          </a:prstGeom>
          <a:noFill/>
          <a:ln/>
        </p:spPr>
        <p:txBody>
          <a:bodyPr wrap="square" lIns="0" tIns="0" rIns="0" bIns="0" rtlCol="0" anchor="ctr"/>
          <a:lstStyle/>
          <a:p>
            <a:pPr marL="0" indent="0">
              <a:buNone/>
            </a:pPr>
            <a:r>
              <a:rPr lang="en-US" sz="1000" dirty="0">
                <a:solidFill>
                  <a:srgbClr val="E8F4F3"/>
                </a:solidFill>
                <a:latin typeface="Calibri" pitchFamily="34" charset="0"/>
                <a:ea typeface="Calibri" pitchFamily="34" charset="-122"/>
                <a:cs typeface="Calibri" pitchFamily="34" charset="-120"/>
              </a:rPr>
              <a:t>Service Plans alone generate ₦60.31B — 70.8% of total revenue. This recurring, annuity-style income is the most strategically valuable line. Every hardware sale must trigger a service plan conversation. Growing attach rates by even 10% could transform profitability.</a:t>
            </a:r>
            <a:endParaRPr lang="en-US" sz="1000" dirty="0"/>
          </a:p>
        </p:txBody>
      </p:sp>
      <p:sp>
        <p:nvSpPr>
          <p:cNvPr id="14" name="Shape 12"/>
          <p:cNvSpPr/>
          <p:nvPr/>
        </p:nvSpPr>
        <p:spPr>
          <a:xfrm>
            <a:off x="4892040" y="1783080"/>
            <a:ext cx="4206240" cy="1261872"/>
          </a:xfrm>
          <a:prstGeom prst="rect">
            <a:avLst/>
          </a:prstGeom>
          <a:solidFill>
            <a:srgbClr val="182531"/>
          </a:solidFill>
          <a:ln/>
        </p:spPr>
      </p:sp>
      <p:sp>
        <p:nvSpPr>
          <p:cNvPr id="15" name="Shape 13"/>
          <p:cNvSpPr/>
          <p:nvPr/>
        </p:nvSpPr>
        <p:spPr>
          <a:xfrm>
            <a:off x="4892040" y="1783080"/>
            <a:ext cx="73152" cy="1261872"/>
          </a:xfrm>
          <a:prstGeom prst="rect">
            <a:avLst/>
          </a:prstGeom>
          <a:solidFill>
            <a:srgbClr val="1B998B"/>
          </a:solidFill>
          <a:ln w="12700">
            <a:solidFill>
              <a:srgbClr val="1B998B"/>
            </a:solidFill>
            <a:prstDash val="solid"/>
          </a:ln>
        </p:spPr>
      </p:sp>
      <p:sp>
        <p:nvSpPr>
          <p:cNvPr id="16" name="Text 14"/>
          <p:cNvSpPr/>
          <p:nvPr/>
        </p:nvSpPr>
        <p:spPr>
          <a:xfrm>
            <a:off x="5074920" y="1874520"/>
            <a:ext cx="3931920" cy="365760"/>
          </a:xfrm>
          <a:prstGeom prst="rect">
            <a:avLst/>
          </a:prstGeom>
          <a:noFill/>
          <a:ln/>
        </p:spPr>
        <p:txBody>
          <a:bodyPr wrap="square" lIns="0" tIns="0" rIns="0" bIns="0" rtlCol="0" anchor="ctr"/>
          <a:lstStyle/>
          <a:p>
            <a:pPr marL="0" indent="0">
              <a:buNone/>
            </a:pPr>
            <a:r>
              <a:rPr lang="en-US" sz="1200" b="1" dirty="0">
                <a:solidFill>
                  <a:srgbClr val="4FFFEF"/>
                </a:solidFill>
                <a:latin typeface="Calibri" pitchFamily="34" charset="0"/>
                <a:ea typeface="Calibri" pitchFamily="34" charset="-122"/>
                <a:cs typeface="Calibri" pitchFamily="34" charset="-120"/>
              </a:rPr>
              <a:t>03. Non-WorkDay Revenue — Missed Opportunity</a:t>
            </a:r>
            <a:endParaRPr lang="en-US" sz="1200" dirty="0"/>
          </a:p>
        </p:txBody>
      </p:sp>
      <p:sp>
        <p:nvSpPr>
          <p:cNvPr id="17" name="Text 15"/>
          <p:cNvSpPr/>
          <p:nvPr/>
        </p:nvSpPr>
        <p:spPr>
          <a:xfrm>
            <a:off x="5074920" y="2258568"/>
            <a:ext cx="3931920" cy="685800"/>
          </a:xfrm>
          <a:prstGeom prst="rect">
            <a:avLst/>
          </a:prstGeom>
          <a:noFill/>
          <a:ln/>
        </p:spPr>
        <p:txBody>
          <a:bodyPr wrap="square" lIns="0" tIns="0" rIns="0" bIns="0" rtlCol="0" anchor="ctr"/>
          <a:lstStyle/>
          <a:p>
            <a:pPr marL="0" indent="0">
              <a:buNone/>
            </a:pPr>
            <a:r>
              <a:rPr lang="en-US" sz="1000" dirty="0">
                <a:solidFill>
                  <a:srgbClr val="E8F4F3"/>
                </a:solidFill>
                <a:latin typeface="Calibri" pitchFamily="34" charset="0"/>
                <a:ea typeface="Calibri" pitchFamily="34" charset="-122"/>
                <a:cs typeface="Calibri" pitchFamily="34" charset="-120"/>
              </a:rPr>
              <a:t>94.8% of revenue is generated on WorkDays — weekends and holidays contribute almost nothing. This is a structural missed opportunity. Targeted non-workday promotions, flexible financing, and seasonal campaigns can smooth revenue cycles and unlock significant incremental growth.</a:t>
            </a:r>
            <a:endParaRPr lang="en-US" sz="1000" dirty="0"/>
          </a:p>
        </p:txBody>
      </p:sp>
      <p:sp>
        <p:nvSpPr>
          <p:cNvPr id="18" name="Shape 16"/>
          <p:cNvSpPr/>
          <p:nvPr/>
        </p:nvSpPr>
        <p:spPr>
          <a:xfrm>
            <a:off x="4892040" y="3246120"/>
            <a:ext cx="4206240" cy="1261872"/>
          </a:xfrm>
          <a:prstGeom prst="rect">
            <a:avLst/>
          </a:prstGeom>
          <a:solidFill>
            <a:srgbClr val="182531"/>
          </a:solidFill>
          <a:ln/>
        </p:spPr>
      </p:sp>
      <p:sp>
        <p:nvSpPr>
          <p:cNvPr id="19" name="Shape 17"/>
          <p:cNvSpPr/>
          <p:nvPr/>
        </p:nvSpPr>
        <p:spPr>
          <a:xfrm>
            <a:off x="4892040" y="3246120"/>
            <a:ext cx="73152" cy="1261872"/>
          </a:xfrm>
          <a:prstGeom prst="rect">
            <a:avLst/>
          </a:prstGeom>
          <a:solidFill>
            <a:srgbClr val="1B998B"/>
          </a:solidFill>
          <a:ln w="12700">
            <a:solidFill>
              <a:srgbClr val="1B998B"/>
            </a:solidFill>
            <a:prstDash val="solid"/>
          </a:ln>
        </p:spPr>
      </p:sp>
      <p:sp>
        <p:nvSpPr>
          <p:cNvPr id="20" name="Text 18"/>
          <p:cNvSpPr/>
          <p:nvPr/>
        </p:nvSpPr>
        <p:spPr>
          <a:xfrm>
            <a:off x="5074920" y="3337560"/>
            <a:ext cx="3931920" cy="365760"/>
          </a:xfrm>
          <a:prstGeom prst="rect">
            <a:avLst/>
          </a:prstGeom>
          <a:noFill/>
          <a:ln/>
        </p:spPr>
        <p:txBody>
          <a:bodyPr wrap="square" lIns="0" tIns="0" rIns="0" bIns="0" rtlCol="0" anchor="ctr"/>
          <a:lstStyle/>
          <a:p>
            <a:pPr marL="0" indent="0">
              <a:buNone/>
            </a:pPr>
            <a:r>
              <a:rPr lang="en-US" sz="1200" b="1" dirty="0">
                <a:solidFill>
                  <a:srgbClr val="4FFFEF"/>
                </a:solidFill>
                <a:latin typeface="Calibri" pitchFamily="34" charset="0"/>
                <a:ea typeface="Calibri" pitchFamily="34" charset="-122"/>
                <a:cs typeface="Calibri" pitchFamily="34" charset="-120"/>
              </a:rPr>
              <a:t>04. Store Performance — Replicate Best Practice</a:t>
            </a:r>
            <a:endParaRPr lang="en-US" sz="1200" dirty="0"/>
          </a:p>
        </p:txBody>
      </p:sp>
      <p:sp>
        <p:nvSpPr>
          <p:cNvPr id="21" name="Text 19"/>
          <p:cNvSpPr/>
          <p:nvPr/>
        </p:nvSpPr>
        <p:spPr>
          <a:xfrm>
            <a:off x="5074920" y="3721608"/>
            <a:ext cx="3931920" cy="685800"/>
          </a:xfrm>
          <a:prstGeom prst="rect">
            <a:avLst/>
          </a:prstGeom>
          <a:noFill/>
          <a:ln/>
        </p:spPr>
        <p:txBody>
          <a:bodyPr wrap="square" lIns="0" tIns="0" rIns="0" bIns="0" rtlCol="0" anchor="ctr"/>
          <a:lstStyle/>
          <a:p>
            <a:pPr marL="0" indent="0">
              <a:buNone/>
            </a:pPr>
            <a:r>
              <a:rPr lang="en-US" sz="1000" dirty="0">
                <a:solidFill>
                  <a:srgbClr val="E8F4F3"/>
                </a:solidFill>
                <a:latin typeface="Calibri" pitchFamily="34" charset="0"/>
                <a:ea typeface="Calibri" pitchFamily="34" charset="-122"/>
                <a:cs typeface="Calibri" pitchFamily="34" charset="-120"/>
              </a:rPr>
              <a:t>Model 3002P generated ₦30.20B — more than any other product. The wide performance gap between top and bottom stores signals that best practices are not consistently applied. A Store Health Score system and a regional playbook modelled on North East will fix this at scale.</a:t>
            </a:r>
            <a:endParaRPr lang="en-US" sz="1000" dirty="0"/>
          </a:p>
        </p:txBody>
      </p:sp>
      <p:sp>
        <p:nvSpPr>
          <p:cNvPr id="22" name="Text 20"/>
          <p:cNvSpPr/>
          <p:nvPr/>
        </p:nvSpPr>
        <p:spPr>
          <a:xfrm>
            <a:off x="457200" y="4709160"/>
            <a:ext cx="8229600" cy="274320"/>
          </a:xfrm>
          <a:prstGeom prst="rect">
            <a:avLst/>
          </a:prstGeom>
          <a:noFill/>
          <a:ln/>
        </p:spPr>
        <p:txBody>
          <a:bodyPr wrap="square" lIns="0" tIns="0" rIns="0" bIns="0" rtlCol="0" anchor="ctr"/>
          <a:lstStyle/>
          <a:p>
            <a:pPr marL="0" indent="0">
              <a:buNone/>
            </a:pPr>
            <a:r>
              <a:rPr lang="en-US" sz="1100" i="1" dirty="0">
                <a:solidFill>
                  <a:srgbClr val="D1FAF7"/>
                </a:solidFill>
                <a:latin typeface="Calibri" pitchFamily="34" charset="0"/>
                <a:ea typeface="Calibri" pitchFamily="34" charset="-122"/>
                <a:cs typeface="Calibri" pitchFamily="34" charset="-120"/>
              </a:rPr>
              <a:t>With focused execution across these four imperatives — regional diversification, service plan maximisation, non-workday activation, and data-driven store management — this business is well-positioned to grow total revenue by 15 to 20% in the next fiscal year.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1744</Words>
  <Application>Microsoft Office PowerPoint</Application>
  <PresentationFormat>On-screen Show (16:9)</PresentationFormat>
  <Paragraphs>174</Paragraphs>
  <Slides>12</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Sales &amp; Revenue Performance Analysis</dc:title>
  <dc:subject>PptxGenJS Presentation</dc:subject>
  <dc:creator>PptxGenJS</dc:creator>
  <cp:lastModifiedBy>USER</cp:lastModifiedBy>
  <cp:revision>19</cp:revision>
  <dcterms:created xsi:type="dcterms:W3CDTF">2026-06-04T17:59:55Z</dcterms:created>
  <dcterms:modified xsi:type="dcterms:W3CDTF">2026-06-16T11:37:53Z</dcterms:modified>
</cp:coreProperties>
</file>